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9144000" cy="51435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fld id="{E2B5931E-FFD4-483E-8FF8-19D71A5ADCAA}" type="slidenum"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7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5F1972-A2EF-4A5D-AAD9-1D2541936667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5041B0-B99D-4329-BACB-618D14C776C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9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F0D4FF-1A26-4B9D-915E-10163390E45D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10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3DC5B4-C1A4-4D93-A6CE-80BB42D116C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11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75667F-DD51-427E-86E7-5BB25700724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2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D040B7-A6A9-4B9A-A2A5-03208BD318D8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3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CD6F5D-8ACF-4D02-A611-3F2B02E68107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4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316C2E-EA26-4B42-BE14-365C344501B4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15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C9A7AC-8242-4ECC-A582-BEB656E55FF7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6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32AEEC-450C-48FE-9A80-3ECA7CACAA21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17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0449A4-289B-4ACB-B5A5-2E7032592CB3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18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D00B15-7441-49C9-8A8C-613CA2C37E6F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Total: 32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19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40D67B-D9A3-4B39-B308-EA61751BAE3C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35DABEF-D83B-4EA3-A1AE-6B13C584ABA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47A79E-5394-4F94-8227-FCD164E5E0E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4E2D89-A2AA-43E6-924D-E9EE1B7E3D6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" name="Picture 1" descr=""/>
          <p:cNvPicPr/>
          <p:nvPr/>
        </p:nvPicPr>
        <p:blipFill>
          <a:blip r:embed="rId3"/>
          <a:stretch/>
        </p:blipFill>
        <p:spPr>
          <a:xfrm>
            <a:off x="0" y="-720"/>
            <a:ext cx="9140400" cy="5141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7" name="Picture 3" descr=""/>
          <p:cNvPicPr/>
          <p:nvPr/>
        </p:nvPicPr>
        <p:blipFill>
          <a:blip r:embed="rId3"/>
          <a:stretch/>
        </p:blipFill>
        <p:spPr>
          <a:xfrm>
            <a:off x="0" y="720"/>
            <a:ext cx="9140400" cy="5141160"/>
          </a:xfrm>
          <a:prstGeom prst="rect">
            <a:avLst/>
          </a:prstGeom>
          <a:ln w="0">
            <a:noFill/>
          </a:ln>
        </p:spPr>
      </p:pic>
      <p:sp>
        <p:nvSpPr>
          <p:cNvPr id="8" name="TextBox 4"/>
          <p:cNvSpPr/>
          <p:nvPr/>
        </p:nvSpPr>
        <p:spPr>
          <a:xfrm>
            <a:off x="786600" y="1042560"/>
            <a:ext cx="21697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mbria"/>
                <a:ea typeface="MS PGothic"/>
              </a:rPr>
              <a:t>DEPARTMENT OR UNIT NAME. DELETE FROM MASTER SLIDE IF N/A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sldNum" idx="1"/>
          </p:nvPr>
        </p:nvSpPr>
        <p:spPr>
          <a:xfrm>
            <a:off x="7049160" y="4767120"/>
            <a:ext cx="20566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F120FF1-BF85-40C6-9C55-7DB2ECCCC208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sldNum" idx="2"/>
          </p:nvPr>
        </p:nvSpPr>
        <p:spPr>
          <a:xfrm>
            <a:off x="7049160" y="4767120"/>
            <a:ext cx="20566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9E60BDF-AFD9-4186-8B47-A31B24AAB689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sldNum" idx="3"/>
          </p:nvPr>
        </p:nvSpPr>
        <p:spPr>
          <a:xfrm>
            <a:off x="7049160" y="4767120"/>
            <a:ext cx="20566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649C3C3-2D64-4778-8A3B-888BB39734E6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20" name="Rectangle 2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1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40400" cy="5141160"/>
          </a:xfrm>
          <a:prstGeom prst="rect">
            <a:avLst/>
          </a:prstGeom>
          <a:ln w="0">
            <a:noFill/>
          </a:ln>
        </p:spPr>
      </p:pic>
      <p:pic>
        <p:nvPicPr>
          <p:cNvPr id="22" name="Picture 4" descr=""/>
          <p:cNvPicPr/>
          <p:nvPr/>
        </p:nvPicPr>
        <p:blipFill>
          <a:blip r:embed="rId4"/>
          <a:stretch/>
        </p:blipFill>
        <p:spPr>
          <a:xfrm>
            <a:off x="-2880" y="1440"/>
            <a:ext cx="9140400" cy="5141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90640" y="1324440"/>
            <a:ext cx="8103960" cy="80748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0"/>
              </a:srgbClr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3600" spc="-1" strike="noStrike" cap="all">
                <a:solidFill>
                  <a:schemeClr val="lt1"/>
                </a:solidFill>
                <a:latin typeface="Bookman Old Style"/>
                <a:ea typeface="MS PGothic"/>
              </a:rPr>
              <a:t>Introduction to</a:t>
            </a:r>
            <a:br>
              <a:rPr sz="3600"/>
            </a:br>
            <a:r>
              <a:rPr b="1" lang="en-US" sz="3600" spc="-1" strike="noStrike" cap="all">
                <a:solidFill>
                  <a:schemeClr val="lt1"/>
                </a:solidFill>
                <a:latin typeface="Bookman Old Style"/>
                <a:ea typeface="MS PGothic"/>
              </a:rPr>
              <a:t>Design Patterns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8240" y="2483280"/>
            <a:ext cx="8528760" cy="103932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0"/>
              </a:srgbClr>
            </a:outerShdw>
          </a:effectLst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</a:rPr>
              <a:t>“</a:t>
            </a:r>
            <a:r>
              <a:rPr b="0" lang="en-US" sz="1600" spc="-1" strike="noStrike">
                <a:solidFill>
                  <a:schemeClr val="lt1"/>
                </a:solidFill>
                <a:latin typeface="Arial"/>
              </a:rPr>
              <a:t>A design that doesn’t take change into account risks major redesign in the future.”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i="1" lang="en-US" sz="1400" spc="-1" strike="noStrike" u="sng">
                <a:solidFill>
                  <a:schemeClr val="lt1"/>
                </a:solidFill>
                <a:uFillTx/>
                <a:latin typeface="Arial"/>
              </a:rPr>
              <a:t>-Erich Gamma, Design Patterns: Elements of Reusable Object-Oriented Software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/>
          </p:nvPr>
        </p:nvSpPr>
        <p:spPr>
          <a:xfrm>
            <a:off x="591480" y="1329480"/>
            <a:ext cx="7957440" cy="1430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A </a:t>
            </a:r>
            <a:r>
              <a:rPr b="1" lang="en-US" sz="1800" spc="-1" strike="noStrike">
                <a:solidFill>
                  <a:srgbClr val="00ff00"/>
                </a:solidFill>
                <a:latin typeface="Cambria"/>
                <a:ea typeface="MS PGothic"/>
              </a:rPr>
              <a:t>design pattern</a:t>
            </a:r>
            <a:r>
              <a:rPr b="0" lang="en-US" sz="1800" spc="-1" strike="noStrike">
                <a:solidFill>
                  <a:srgbClr val="00ff00"/>
                </a:solidFill>
                <a:latin typeface="Cambria"/>
                <a:ea typeface="MS PGothic"/>
              </a:rPr>
              <a:t> </a:t>
            </a: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is general, repeatable solution to a common design challenge.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A way of thinking about how to approach solving a problem (general)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Description of the process used in solving problems (repeatable)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289800" y="595440"/>
            <a:ext cx="8563320" cy="83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What’s a Design Pattern, Anyway?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Box 80"/>
          <p:cNvSpPr/>
          <p:nvPr/>
        </p:nvSpPr>
        <p:spPr>
          <a:xfrm>
            <a:off x="475920" y="3071520"/>
            <a:ext cx="2301480" cy="9126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S PGothic"/>
              </a:rPr>
              <a:t>Which part(s) of the solution are similar?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Box 82"/>
          <p:cNvSpPr/>
          <p:nvPr/>
        </p:nvSpPr>
        <p:spPr>
          <a:xfrm>
            <a:off x="1421280" y="3663360"/>
            <a:ext cx="2778840" cy="118692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S PGothic"/>
              </a:rPr>
              <a:t>Data structures? Algorithms?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MS PGothic"/>
              </a:rPr>
              <a:t>Optimization Techniques?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Freeform 14"/>
          <p:cNvSpPr/>
          <p:nvPr/>
        </p:nvSpPr>
        <p:spPr>
          <a:xfrm>
            <a:off x="5292720" y="2617560"/>
            <a:ext cx="1339200" cy="1339200"/>
          </a:xfrm>
          <a:custGeom>
            <a:avLst/>
            <a:gdLst>
              <a:gd name="textAreaLeft" fmla="*/ 0 w 1339200"/>
              <a:gd name="textAreaRight" fmla="*/ 1339920 w 1339200"/>
              <a:gd name="textAreaTop" fmla="*/ 0 h 1339200"/>
              <a:gd name="textAreaBottom" fmla="*/ 1339920 h 1339200"/>
            </a:gdLst>
            <a:ahLst/>
            <a:rect l="textAreaLeft" t="textAreaTop" r="textAreaRight" b="textAreaBottom"/>
            <a:pathLst>
              <a:path w="2677159" h="2677159">
                <a:moveTo>
                  <a:pt x="0" y="1338580"/>
                </a:moveTo>
                <a:cubicBezTo>
                  <a:pt x="0" y="599303"/>
                  <a:pt x="599303" y="0"/>
                  <a:pt x="1338580" y="0"/>
                </a:cubicBezTo>
                <a:cubicBezTo>
                  <a:pt x="2077857" y="0"/>
                  <a:pt x="2677160" y="599303"/>
                  <a:pt x="2677160" y="1338580"/>
                </a:cubicBezTo>
                <a:cubicBezTo>
                  <a:pt x="2677160" y="2077857"/>
                  <a:pt x="2077857" y="2677160"/>
                  <a:pt x="1338580" y="2677160"/>
                </a:cubicBezTo>
                <a:cubicBezTo>
                  <a:pt x="599303" y="2677160"/>
                  <a:pt x="0" y="2077857"/>
                  <a:pt x="0" y="1338580"/>
                </a:cubicBezTo>
                <a:close/>
              </a:path>
            </a:pathLst>
          </a:custGeom>
          <a:solidFill>
            <a:srgbClr val="00ff00">
              <a:alpha val="50000"/>
            </a:srgbClr>
          </a:solidFill>
          <a:ln>
            <a:solidFill>
              <a:srgbClr val="ffffff"/>
            </a:solidFill>
            <a:round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50000"/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numCol="1" spcCol="1440" lIns="267840" rIns="267840" tIns="351360" bIns="753120" anchor="ctr">
            <a:noAutofit/>
          </a:bodyPr>
          <a:p>
            <a:pPr algn="ctr" defTabSz="1066680">
              <a:lnSpc>
                <a:spcPct val="90000"/>
              </a:lnSpc>
              <a:spcAft>
                <a:spcPts val="561"/>
              </a:spcAft>
            </a:pPr>
            <a:r>
              <a:rPr b="0" lang="en-US" sz="1600" spc="-1" strike="noStrike">
                <a:solidFill>
                  <a:schemeClr val="lt1"/>
                </a:solidFill>
                <a:latin typeface="Rockwell"/>
                <a:ea typeface="MS PGothic"/>
              </a:rPr>
              <a:t>3D Modeler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Freeform 15"/>
          <p:cNvSpPr/>
          <p:nvPr/>
        </p:nvSpPr>
        <p:spPr>
          <a:xfrm>
            <a:off x="5776200" y="3454920"/>
            <a:ext cx="1339200" cy="1339200"/>
          </a:xfrm>
          <a:custGeom>
            <a:avLst/>
            <a:gdLst>
              <a:gd name="textAreaLeft" fmla="*/ 0 w 1339200"/>
              <a:gd name="textAreaRight" fmla="*/ 1339920 w 1339200"/>
              <a:gd name="textAreaTop" fmla="*/ 0 h 1339200"/>
              <a:gd name="textAreaBottom" fmla="*/ 1339920 h 1339200"/>
            </a:gdLst>
            <a:ahLst/>
            <a:rect l="textAreaLeft" t="textAreaTop" r="textAreaRight" b="textAreaBottom"/>
            <a:pathLst>
              <a:path w="2677159" h="2677159">
                <a:moveTo>
                  <a:pt x="0" y="1338580"/>
                </a:moveTo>
                <a:cubicBezTo>
                  <a:pt x="0" y="599303"/>
                  <a:pt x="599303" y="0"/>
                  <a:pt x="1338580" y="0"/>
                </a:cubicBezTo>
                <a:cubicBezTo>
                  <a:pt x="2077857" y="0"/>
                  <a:pt x="2677160" y="599303"/>
                  <a:pt x="2677160" y="1338580"/>
                </a:cubicBezTo>
                <a:cubicBezTo>
                  <a:pt x="2677160" y="2077857"/>
                  <a:pt x="2077857" y="2677160"/>
                  <a:pt x="1338580" y="2677160"/>
                </a:cubicBezTo>
                <a:cubicBezTo>
                  <a:pt x="599303" y="2677160"/>
                  <a:pt x="0" y="2077857"/>
                  <a:pt x="0" y="133858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79000"/>
            </a:schemeClr>
          </a:solidFill>
          <a:ln>
            <a:solidFill>
              <a:srgbClr val="ffffff"/>
            </a:solidFill>
            <a:round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50000"/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numCol="1" spcCol="1440" lIns="576000" rIns="189000" tIns="518760" bIns="384840" anchor="ctr">
            <a:noAutofit/>
          </a:bodyPr>
          <a:p>
            <a:pPr algn="ctr" defTabSz="1066680">
              <a:lnSpc>
                <a:spcPct val="90000"/>
              </a:lnSpc>
              <a:spcAft>
                <a:spcPts val="561"/>
              </a:spcAft>
            </a:pPr>
            <a:r>
              <a:rPr b="0" lang="en-US" sz="1600" spc="-1" strike="noStrike">
                <a:solidFill>
                  <a:schemeClr val="lt1"/>
                </a:solidFill>
                <a:latin typeface="Rockwell"/>
                <a:ea typeface="MS PGothic"/>
              </a:rPr>
              <a:t>Game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Freeform 16"/>
          <p:cNvSpPr/>
          <p:nvPr/>
        </p:nvSpPr>
        <p:spPr>
          <a:xfrm>
            <a:off x="4809240" y="3454920"/>
            <a:ext cx="1339200" cy="1339200"/>
          </a:xfrm>
          <a:custGeom>
            <a:avLst/>
            <a:gdLst>
              <a:gd name="textAreaLeft" fmla="*/ 0 w 1339200"/>
              <a:gd name="textAreaRight" fmla="*/ 1339920 w 1339200"/>
              <a:gd name="textAreaTop" fmla="*/ 0 h 1339200"/>
              <a:gd name="textAreaBottom" fmla="*/ 1339920 h 1339200"/>
            </a:gdLst>
            <a:ahLst/>
            <a:rect l="textAreaLeft" t="textAreaTop" r="textAreaRight" b="textAreaBottom"/>
            <a:pathLst>
              <a:path w="2677159" h="2677159">
                <a:moveTo>
                  <a:pt x="0" y="1338580"/>
                </a:moveTo>
                <a:cubicBezTo>
                  <a:pt x="0" y="599303"/>
                  <a:pt x="599303" y="0"/>
                  <a:pt x="1338580" y="0"/>
                </a:cubicBezTo>
                <a:cubicBezTo>
                  <a:pt x="2077857" y="0"/>
                  <a:pt x="2677160" y="599303"/>
                  <a:pt x="2677160" y="1338580"/>
                </a:cubicBezTo>
                <a:cubicBezTo>
                  <a:pt x="2677160" y="2077857"/>
                  <a:pt x="2077857" y="2677160"/>
                  <a:pt x="1338580" y="2677160"/>
                </a:cubicBezTo>
                <a:cubicBezTo>
                  <a:pt x="599303" y="2677160"/>
                  <a:pt x="0" y="2077857"/>
                  <a:pt x="0" y="133858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  <a:alpha val="50000"/>
            </a:schemeClr>
          </a:solidFill>
          <a:ln>
            <a:solidFill>
              <a:srgbClr val="ffffff"/>
            </a:solidFill>
            <a:round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alpha val="50000"/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numCol="1" spcCol="1440" lIns="189000" rIns="576000" tIns="518760" bIns="384840" anchor="ctr">
            <a:noAutofit/>
          </a:bodyPr>
          <a:p>
            <a:pPr algn="ctr" defTabSz="1066680">
              <a:lnSpc>
                <a:spcPct val="90000"/>
              </a:lnSpc>
              <a:spcAft>
                <a:spcPts val="561"/>
              </a:spcAft>
            </a:pPr>
            <a:r>
              <a:rPr b="0" lang="en-US" sz="1600" spc="-1" strike="noStrike">
                <a:solidFill>
                  <a:schemeClr val="lt1"/>
                </a:solidFill>
                <a:latin typeface="Rockwell"/>
                <a:ea typeface="MS PGothic"/>
              </a:rPr>
              <a:t>Text Editor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" name="Group 77"/>
          <p:cNvGrpSpPr/>
          <p:nvPr/>
        </p:nvGrpSpPr>
        <p:grpSpPr>
          <a:xfrm>
            <a:off x="2894400" y="2919240"/>
            <a:ext cx="2649960" cy="690840"/>
            <a:chOff x="2894400" y="2919240"/>
            <a:chExt cx="2649960" cy="690840"/>
          </a:xfrm>
        </p:grpSpPr>
        <p:sp>
          <p:nvSpPr>
            <p:cNvPr id="39" name="TextBox 78"/>
            <p:cNvSpPr/>
            <p:nvPr/>
          </p:nvSpPr>
          <p:spPr>
            <a:xfrm>
              <a:off x="2894400" y="2919240"/>
              <a:ext cx="1933920" cy="63828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Cambria"/>
                  <a:ea typeface="Cambria"/>
                </a:rPr>
                <a:t>Potential pattern!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40" name="Straight Arrow Connector 79"/>
            <p:cNvCxnSpPr/>
            <p:nvPr/>
          </p:nvCxnSpPr>
          <p:spPr>
            <a:xfrm>
              <a:off x="4828680" y="3247560"/>
              <a:ext cx="716040" cy="362880"/>
            </a:xfrm>
            <a:prstGeom prst="straightConnector1">
              <a:avLst/>
            </a:prstGeom>
            <a:ln w="25400">
              <a:solidFill>
                <a:srgbClr val="ffff00"/>
              </a:solidFill>
              <a:round/>
              <a:tailEnd len="med" type="triangle" w="med"/>
            </a:ln>
          </p:spPr>
        </p:cxnSp>
      </p:grpSp>
      <p:grpSp>
        <p:nvGrpSpPr>
          <p:cNvPr id="41" name="Group 83"/>
          <p:cNvGrpSpPr/>
          <p:nvPr/>
        </p:nvGrpSpPr>
        <p:grpSpPr>
          <a:xfrm>
            <a:off x="5962680" y="2942280"/>
            <a:ext cx="2608200" cy="1227960"/>
            <a:chOff x="5962680" y="2942280"/>
            <a:chExt cx="2608200" cy="1227960"/>
          </a:xfrm>
        </p:grpSpPr>
        <p:sp>
          <p:nvSpPr>
            <p:cNvPr id="42" name="TextBox 84"/>
            <p:cNvSpPr/>
            <p:nvPr/>
          </p:nvSpPr>
          <p:spPr>
            <a:xfrm>
              <a:off x="6850440" y="2942280"/>
              <a:ext cx="1720440" cy="638280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f2f2f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Cambria"/>
                  <a:ea typeface="Cambria"/>
                </a:rPr>
                <a:t>More patterns!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43" name="Straight Arrow Connector 85"/>
            <p:cNvCxnSpPr/>
            <p:nvPr/>
          </p:nvCxnSpPr>
          <p:spPr>
            <a:xfrm flipH="1">
              <a:off x="6275160" y="3265560"/>
              <a:ext cx="575640" cy="461520"/>
            </a:xfrm>
            <a:prstGeom prst="straightConnector1">
              <a:avLst/>
            </a:prstGeom>
            <a:ln w="25400">
              <a:solidFill>
                <a:srgbClr val="ffff00"/>
              </a:solidFill>
              <a:round/>
              <a:tailEnd len="med" type="triangle" w="med"/>
            </a:ln>
          </p:spPr>
        </p:cxnSp>
        <p:cxnSp>
          <p:nvCxnSpPr>
            <p:cNvPr id="44" name="Straight Arrow Connector 86"/>
            <p:cNvCxnSpPr/>
            <p:nvPr/>
          </p:nvCxnSpPr>
          <p:spPr>
            <a:xfrm flipH="1">
              <a:off x="5962680" y="3265560"/>
              <a:ext cx="888120" cy="905040"/>
            </a:xfrm>
            <a:prstGeom prst="straightConnector1">
              <a:avLst/>
            </a:prstGeom>
            <a:ln w="25400">
              <a:solidFill>
                <a:srgbClr val="ffff00"/>
              </a:solidFill>
              <a:round/>
              <a:tailEnd len="med" type="triangle" w="med"/>
            </a:ln>
          </p:spPr>
        </p:cxnSp>
        <p:cxnSp>
          <p:nvCxnSpPr>
            <p:cNvPr id="45" name="Straight Arrow Connector 87"/>
            <p:cNvCxnSpPr/>
            <p:nvPr/>
          </p:nvCxnSpPr>
          <p:spPr>
            <a:xfrm flipH="1">
              <a:off x="5964840" y="3265560"/>
              <a:ext cx="881640" cy="568440"/>
            </a:xfrm>
            <a:prstGeom prst="straightConnector1">
              <a:avLst/>
            </a:prstGeom>
            <a:ln w="25400">
              <a:solidFill>
                <a:srgbClr val="ffff00"/>
              </a:solidFill>
              <a:round/>
              <a:tailEnd len="med" type="triangle" w="med"/>
            </a:ln>
          </p:spPr>
        </p:cxnSp>
      </p:grp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E2519D2-5964-4518-A2F5-C520FD6D00E1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615960" y="1238040"/>
            <a:ext cx="7911360" cy="40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Having a process for building a house is a </a:t>
            </a:r>
            <a:r>
              <a:rPr b="1" i="1" lang="en-US" sz="2000" spc="-1" strike="noStrike">
                <a:solidFill>
                  <a:srgbClr val="ffc000"/>
                </a:solidFill>
                <a:latin typeface="Cambria"/>
                <a:ea typeface="MS PGothic"/>
              </a:rPr>
              <a:t>good thing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89800" y="532440"/>
            <a:ext cx="8563320" cy="83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Design Patterns in Practice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Content Placeholder 2"/>
          <p:cNvSpPr/>
          <p:nvPr/>
        </p:nvSpPr>
        <p:spPr>
          <a:xfrm>
            <a:off x="615960" y="2028960"/>
            <a:ext cx="3664800" cy="25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rmAutofit/>
          </a:bodyPr>
          <a:p>
            <a:pPr defTabSz="914400">
              <a:lnSpc>
                <a:spcPct val="100000"/>
              </a:lnSpc>
              <a:spcBef>
                <a:spcPts val="850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If Houses were Made by SC Startups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850"/>
              </a:spcBef>
              <a:buClr>
                <a:srgbClr val="edb286"/>
              </a:buClr>
              <a:buFont typeface="Rockwel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mbria"/>
                <a:ea typeface="MS PGothic"/>
              </a:rPr>
              <a:t>Get some… house building… stuff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850"/>
              </a:spcBef>
              <a:buClr>
                <a:srgbClr val="edb286"/>
              </a:buClr>
              <a:buFont typeface="Rockwel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mbria"/>
                <a:ea typeface="MS PGothic"/>
              </a:rPr>
              <a:t>Put it together (How hard could it be?)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850"/>
              </a:spcBef>
              <a:buClr>
                <a:srgbClr val="edb286"/>
              </a:buClr>
              <a:buFont typeface="Rockwel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mbria"/>
                <a:ea typeface="MS PGothic"/>
              </a:rPr>
              <a:t>Eventually you get a house!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ff00"/>
                </a:solidFill>
                <a:latin typeface="Cambria"/>
                <a:ea typeface="MS PGothic"/>
              </a:rPr>
              <a:t>(Please </a:t>
            </a:r>
            <a:r>
              <a:rPr b="0" i="1" lang="en-US" sz="1400" spc="-1" strike="noStrike" u="sng">
                <a:solidFill>
                  <a:srgbClr val="00ff00"/>
                </a:solidFill>
                <a:uFillTx/>
                <a:latin typeface="Cambria"/>
                <a:ea typeface="MS PGothic"/>
              </a:rPr>
              <a:t>never</a:t>
            </a:r>
            <a:r>
              <a:rPr b="0" lang="en-US" sz="1400" spc="-1" strike="noStrike">
                <a:solidFill>
                  <a:srgbClr val="00ff00"/>
                </a:solidFill>
                <a:latin typeface="Cambria"/>
                <a:ea typeface="MS PGothic"/>
              </a:rPr>
              <a:t> build a house this way.)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ff00"/>
                </a:solidFill>
                <a:latin typeface="Cambria"/>
                <a:ea typeface="MS PGothic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Content Placeholder 2"/>
          <p:cNvSpPr/>
          <p:nvPr/>
        </p:nvSpPr>
        <p:spPr>
          <a:xfrm>
            <a:off x="4578480" y="2028960"/>
            <a:ext cx="4284720" cy="25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rmAutofit/>
          </a:bodyPr>
          <a:p>
            <a:pPr defTabSz="914400">
              <a:lnSpc>
                <a:spcPct val="100000"/>
              </a:lnSpc>
              <a:spcBef>
                <a:spcPts val="850"/>
              </a:spcBef>
              <a:tabLst>
                <a:tab algn="l" pos="0"/>
              </a:tabLst>
            </a:pPr>
            <a:r>
              <a:rPr b="0" lang="en-US" sz="14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How Houses are Actually Built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850"/>
              </a:spcBef>
              <a:buClr>
                <a:srgbClr val="edb286"/>
              </a:buClr>
              <a:buFont typeface="Rockwel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mbria"/>
                <a:ea typeface="MS PGothic"/>
              </a:rPr>
              <a:t>Level building site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850"/>
              </a:spcBef>
              <a:buClr>
                <a:srgbClr val="edb286"/>
              </a:buClr>
              <a:buFont typeface="Rockwel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mbria"/>
                <a:ea typeface="MS PGothic"/>
              </a:rPr>
              <a:t>Pour foundation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850"/>
              </a:spcBef>
              <a:buClr>
                <a:srgbClr val="edb286"/>
              </a:buClr>
              <a:buFont typeface="Rockwel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mbria"/>
                <a:ea typeface="MS PGothic"/>
              </a:rPr>
              <a:t>Build the frame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850"/>
              </a:spcBef>
              <a:buClr>
                <a:srgbClr val="edb286"/>
              </a:buClr>
              <a:buFont typeface="Rockwell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mbria"/>
                <a:ea typeface="MS PGothic"/>
              </a:rPr>
              <a:t>Lots more goes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850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ff00"/>
                </a:solidFill>
                <a:latin typeface="Cambria"/>
                <a:ea typeface="MS PGothic"/>
              </a:rPr>
              <a:t>(Plus, each of these steps is way more detailed)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962FD20-DD82-486E-B3BE-5A3A22DEED76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" dur="5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" dur="500"/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/>
          </p:nvPr>
        </p:nvSpPr>
        <p:spPr>
          <a:xfrm>
            <a:off x="920520" y="1407600"/>
            <a:ext cx="7301880" cy="3396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Sometimes, there’s an entity for which “there can be only one”.</a:t>
            </a:r>
            <a:br>
              <a:rPr sz="2000"/>
            </a:b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We usually only have one rendering system in a game.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Typically, one file handling subsystem is sufficient.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We need to prevent additional objects from being created…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…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but we also need to make sure that one instance is accessible.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br>
              <a:rPr sz="2000"/>
            </a:b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A </a:t>
            </a:r>
            <a:r>
              <a:rPr b="1" lang="en-US" sz="2000" spc="-1" strike="noStrike">
                <a:solidFill>
                  <a:srgbClr val="00ff00"/>
                </a:solidFill>
                <a:latin typeface="Cambria"/>
                <a:ea typeface="MS PGothic"/>
              </a:rPr>
              <a:t>singleton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is a class that is limited to a single instance.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63320" cy="83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The Singleton Pattern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8D6B171-13F4-4336-8661-E641489583C3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/>
          </p:nvPr>
        </p:nvSpPr>
        <p:spPr>
          <a:xfrm>
            <a:off x="692280" y="1047960"/>
            <a:ext cx="7733520" cy="431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To implement a singleton, we need to enforce the “one instance rule”.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289800" y="470160"/>
            <a:ext cx="8563320" cy="658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Singleton Implementation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ctangle 5"/>
          <p:cNvSpPr/>
          <p:nvPr/>
        </p:nvSpPr>
        <p:spPr>
          <a:xfrm>
            <a:off x="2158560" y="1454400"/>
            <a:ext cx="4826520" cy="378036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ff"/>
                </a:solidFill>
                <a:latin typeface="Consolas"/>
                <a:ea typeface="MS PGothic"/>
              </a:rPr>
              <a:t>class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100" spc="-1" strike="noStrike">
                <a:solidFill>
                  <a:srgbClr val="2b91af"/>
                </a:solidFill>
                <a:latin typeface="Consolas"/>
                <a:ea typeface="MS PGothic"/>
              </a:rPr>
              <a:t>KannotHaz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KannotHaz() {} </a:t>
            </a:r>
            <a:r>
              <a:rPr b="0" lang="en-US" sz="1100" spc="-1" strike="noStrike">
                <a:solidFill>
                  <a:srgbClr val="008000"/>
                </a:solidFill>
                <a:latin typeface="Consolas"/>
                <a:ea typeface="MS PGothic"/>
              </a:rPr>
              <a:t>// Private!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ff"/>
                </a:solidFill>
                <a:latin typeface="Consolas"/>
                <a:ea typeface="MS PGothic"/>
              </a:rPr>
              <a:t>public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ff"/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rgbClr val="0000ff"/>
                </a:solidFill>
                <a:latin typeface="Consolas"/>
                <a:ea typeface="MS PGothic"/>
              </a:rPr>
              <a:t>static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100" spc="-1" strike="noStrike">
                <a:solidFill>
                  <a:srgbClr val="2b91af"/>
                </a:solidFill>
                <a:latin typeface="Consolas"/>
                <a:ea typeface="MS PGothic"/>
              </a:rPr>
              <a:t>KannotHaz </a:t>
            </a:r>
            <a:r>
              <a:rPr b="0" lang="en-US" sz="11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&amp;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getInstance()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8000"/>
                </a:solidFill>
                <a:latin typeface="Consolas"/>
                <a:ea typeface="MS PGothic"/>
              </a:rPr>
              <a:t>        </a:t>
            </a:r>
            <a:r>
              <a:rPr b="0" lang="en-US" sz="1100" spc="-1" strike="noStrike">
                <a:solidFill>
                  <a:srgbClr val="0000ff"/>
                </a:solidFill>
                <a:latin typeface="Consolas"/>
                <a:ea typeface="MS PGothic"/>
              </a:rPr>
              <a:t>static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100" spc="-1" strike="noStrike">
                <a:solidFill>
                  <a:srgbClr val="2b91af"/>
                </a:solidFill>
                <a:latin typeface="Consolas"/>
                <a:ea typeface="MS PGothic"/>
              </a:rPr>
              <a:t>KannotHaz 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mine; </a:t>
            </a:r>
            <a:r>
              <a:rPr b="0" lang="en-US" sz="1100" spc="-1" strike="noStrike">
                <a:solidFill>
                  <a:srgbClr val="008000"/>
                </a:solidFill>
                <a:latin typeface="Consolas"/>
                <a:ea typeface="MS PGothic"/>
              </a:rPr>
              <a:t>// Inside the class, so OK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       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return mine;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}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ff"/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rgbClr val="0000ff"/>
                </a:solidFill>
                <a:latin typeface="Consolas"/>
                <a:ea typeface="MS PGothic"/>
              </a:rPr>
              <a:t>void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foo();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};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ff"/>
                </a:solidFill>
                <a:latin typeface="Consolas"/>
                <a:ea typeface="MS PGothic"/>
              </a:rPr>
              <a:t>int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main()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b91af"/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rgbClr val="2b91af"/>
                </a:solidFill>
                <a:latin typeface="Consolas"/>
                <a:ea typeface="MS PGothic"/>
              </a:rPr>
              <a:t>KannotHaz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plz; </a:t>
            </a:r>
            <a:r>
              <a:rPr b="0" lang="en-US" sz="1100" spc="-1" strike="noStrike">
                <a:solidFill>
                  <a:srgbClr val="008000"/>
                </a:solidFill>
                <a:latin typeface="Consolas"/>
                <a:ea typeface="MS PGothic"/>
              </a:rPr>
              <a:t>// Compiler error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2b91af"/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rgbClr val="2b91af"/>
                </a:solidFill>
                <a:latin typeface="Consolas"/>
                <a:ea typeface="MS PGothic"/>
              </a:rPr>
              <a:t>KannotHaz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1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&amp;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prettyPlz = </a:t>
            </a:r>
            <a:r>
              <a:rPr b="0" lang="en-US" sz="1100" spc="-1" strike="noStrike">
                <a:solidFill>
                  <a:srgbClr val="2b91af"/>
                </a:solidFill>
                <a:latin typeface="Consolas"/>
                <a:ea typeface="MS PGothic"/>
              </a:rPr>
              <a:t>KannotHaz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::getInstance(); </a:t>
            </a:r>
            <a:r>
              <a:rPr b="0" lang="en-US" sz="1100" spc="-1" strike="noStrike">
                <a:solidFill>
                  <a:srgbClr val="008000"/>
                </a:solidFill>
                <a:latin typeface="Consolas"/>
                <a:ea typeface="MS PGothic"/>
              </a:rPr>
              <a:t>// Yay!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prettyPlz.foo(); </a:t>
            </a:r>
            <a:r>
              <a:rPr b="0" lang="en-US" sz="1100" spc="-1" strike="noStrike">
                <a:solidFill>
                  <a:srgbClr val="008000"/>
                </a:solidFill>
                <a:latin typeface="Consolas"/>
                <a:ea typeface="MS PGothic"/>
              </a:rPr>
              <a:t>// Instance method call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rgbClr val="2b91af"/>
                </a:solidFill>
                <a:latin typeface="Consolas"/>
                <a:ea typeface="MS PGothic"/>
              </a:rPr>
              <a:t>KannotHaz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::getInstance().foo();</a:t>
            </a:r>
            <a:r>
              <a:rPr b="0" lang="en-US" sz="1100" spc="-1" strike="noStrike">
                <a:solidFill>
                  <a:srgbClr val="008000"/>
                </a:solidFill>
                <a:latin typeface="Consolas"/>
                <a:ea typeface="MS PGothic"/>
              </a:rPr>
              <a:t> // Same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ff"/>
                </a:solidFill>
                <a:latin typeface="Consolas"/>
                <a:ea typeface="MS PGothic"/>
              </a:rPr>
              <a:t>    </a:t>
            </a:r>
            <a:r>
              <a:rPr b="0" lang="en-US" sz="1100" spc="-1" strike="noStrike">
                <a:solidFill>
                  <a:srgbClr val="0000ff"/>
                </a:solidFill>
                <a:latin typeface="Consolas"/>
                <a:ea typeface="MS PGothic"/>
              </a:rPr>
              <a:t>return</a:t>
            </a: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 0;</a:t>
            </a:r>
            <a:br>
              <a:rPr sz="1100"/>
            </a:br>
            <a:r>
              <a:rPr b="0" lang="en-US" sz="1100" spc="-1" strike="noStrike">
                <a:solidFill>
                  <a:srgbClr val="000000"/>
                </a:solidFill>
                <a:latin typeface="Consolas"/>
                <a:ea typeface="MS PGothic"/>
              </a:rPr>
              <a:t>}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4650B50-675C-497F-BF27-32D707ED4A46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/>
          </p:nvPr>
        </p:nvSpPr>
        <p:spPr>
          <a:xfrm>
            <a:off x="469080" y="1366920"/>
            <a:ext cx="8205120" cy="3272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Often, we could implement a singleton using static elements. So why not?</a:t>
            </a:r>
            <a:br>
              <a:rPr sz="2000"/>
            </a:b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If we have state, object model is often a better fit (data + behavior)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Sometimes, it is more efficient to control allocation / deallocation*.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In other cases, initialization must be done in a specific order.*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br>
              <a:rPr sz="2000"/>
            </a:b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Static classes play an important role – most notably for stateless grouping!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63320" cy="83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Singleton: Why not All Static?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C6A47FA-1C20-42E1-9C3D-0A26E986FC80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/>
          </p:nvPr>
        </p:nvSpPr>
        <p:spPr>
          <a:xfrm>
            <a:off x="692280" y="1224000"/>
            <a:ext cx="7733520" cy="431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Sometimes it is more efficient to use </a:t>
            </a:r>
            <a:r>
              <a:rPr b="1" lang="en-US" sz="2000" spc="-1" strike="noStrike">
                <a:solidFill>
                  <a:srgbClr val="ffc000"/>
                </a:solidFill>
                <a:latin typeface="Cambria"/>
                <a:ea typeface="MS PGothic"/>
              </a:rPr>
              <a:t>lazy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allocation (“just in time”).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289800" y="470160"/>
            <a:ext cx="8563320" cy="658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Dynamically Allocated Singletons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 5"/>
          <p:cNvSpPr/>
          <p:nvPr/>
        </p:nvSpPr>
        <p:spPr>
          <a:xfrm>
            <a:off x="783360" y="1706400"/>
            <a:ext cx="4337280" cy="173556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Renderer();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~Renderer();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 // Hmm, what else?...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 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static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mine;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public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static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getInstance();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initialze();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 11"/>
          <p:cNvSpPr/>
          <p:nvPr/>
        </p:nvSpPr>
        <p:spPr>
          <a:xfrm>
            <a:off x="5171760" y="1706400"/>
            <a:ext cx="3145320" cy="33814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#include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"Renderer.h"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::mine = nullptr;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::getInstance()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if (mine == nullptr)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mine = new Renderer();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return mine;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void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::releaseInstance()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if (mine != nullptr)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delete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mine;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 6"/>
          <p:cNvSpPr/>
          <p:nvPr/>
        </p:nvSpPr>
        <p:spPr>
          <a:xfrm>
            <a:off x="783360" y="3483000"/>
            <a:ext cx="4337280" cy="14428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int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main()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renderer =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::getInstance();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renderer-&gt;initialze();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Or...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::getInstance()-&gt;initialze();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4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...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6330A02-C3AF-499F-A2FE-5EBC80E53D2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979200" y="1597320"/>
            <a:ext cx="7819560" cy="2194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To control allocation of objects, we can use a </a:t>
            </a:r>
            <a:r>
              <a:rPr b="1" lang="en-US" sz="2000" spc="-1" strike="noStrike">
                <a:solidFill>
                  <a:srgbClr val="00ff00"/>
                </a:solidFill>
                <a:latin typeface="Cambria"/>
                <a:ea typeface="MS PGothic"/>
              </a:rPr>
              <a:t>factory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.</a:t>
            </a:r>
            <a:br>
              <a:rPr sz="2000"/>
            </a:b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Hides object creation / decommissioning logic within class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Establishes common public object generation interface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Effectively replaces “new” and “delete” with custom code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63320" cy="83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The Factory Pattern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Content Placeholder 1"/>
          <p:cNvSpPr/>
          <p:nvPr/>
        </p:nvSpPr>
        <p:spPr>
          <a:xfrm>
            <a:off x="576720" y="4008600"/>
            <a:ext cx="8778960" cy="4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Factories gives us more fine-grained control over memory and initialization.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8ECB9A5-E321-46C8-98C6-E6403DCDE463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381960" y="1518480"/>
            <a:ext cx="8379360" cy="51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Inheritance with singletons is tricky! How to do we provide tailored access?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63320" cy="83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Singleton Inheritance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ctangle 4"/>
          <p:cNvSpPr/>
          <p:nvPr/>
        </p:nvSpPr>
        <p:spPr>
          <a:xfrm>
            <a:off x="754200" y="2470680"/>
            <a:ext cx="3614040" cy="1736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public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static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getInstance();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virtual 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initialize() = 0;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virtual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~Renderer { };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protected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Renderer() { 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 5"/>
          <p:cNvSpPr/>
          <p:nvPr/>
        </p:nvSpPr>
        <p:spPr>
          <a:xfrm>
            <a:off x="4626360" y="2470680"/>
            <a:ext cx="3480840" cy="100404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OpenGlRenderer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public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...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 6"/>
          <p:cNvSpPr/>
          <p:nvPr/>
        </p:nvSpPr>
        <p:spPr>
          <a:xfrm>
            <a:off x="4626360" y="3393720"/>
            <a:ext cx="3480840" cy="100404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DirectXRenderer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public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Renderer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...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FC66B7F-A4D3-4A08-A3A0-B88B0B389E58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692280" y="1312560"/>
            <a:ext cx="7733520" cy="44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We can also separate the factory and target classes.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289800" y="607320"/>
            <a:ext cx="8563320" cy="631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Factory Implementation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5"/>
          <p:cNvSpPr/>
          <p:nvPr/>
        </p:nvSpPr>
        <p:spPr>
          <a:xfrm>
            <a:off x="0" y="1850400"/>
            <a:ext cx="4197960" cy="118764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MyObject() {}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~MyObject() {}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friend 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AllYourObjectAreBelongToUs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6"/>
          <p:cNvSpPr/>
          <p:nvPr/>
        </p:nvSpPr>
        <p:spPr>
          <a:xfrm>
            <a:off x="289800" y="3143160"/>
            <a:ext cx="3726720" cy="118692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AllYourObjectAreBelongToUs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public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getObject();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returnObject(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done);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3905280" y="1850400"/>
            <a:ext cx="5238720" cy="24678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int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main()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plz;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Compiler error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AllYourObjectAreBelongToUs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makeymakey;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prettyPlz = makeymakey.getObject();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Yay!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prettyPlz-&gt;doThing();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delete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prettyPlz;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Compiler error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makeymakey.returnObject(prettyPlz);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OK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return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0;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BD70F7A-F541-4053-B589-14503943DCB6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595080" y="1456920"/>
            <a:ext cx="7823160" cy="2193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As with many advanced techniques, singletons can be abused.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Effectively global variables – any code can access them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Can make debugging trickier / coding more error prone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Beware of “creep” (YOU get a singleton, &amp; YOU, &amp; YOU!...)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63320" cy="83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Singletons: With Great Power…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Content Placeholder 1"/>
          <p:cNvSpPr/>
          <p:nvPr/>
        </p:nvSpPr>
        <p:spPr>
          <a:xfrm>
            <a:off x="345960" y="4008240"/>
            <a:ext cx="87022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Limiting accessibility limits the potential for errors. Use singletons sparingly.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EFAB825-1C3F-4B23-B8EA-4938F906936B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692280" y="1021320"/>
            <a:ext cx="7733520" cy="44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The factory pattern shares some features with the singleton pattern.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289800" y="465120"/>
            <a:ext cx="8563320" cy="83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Factory Implementation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2280960" y="3079080"/>
            <a:ext cx="5360760" cy="17362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int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main()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plz;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Compiler error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prettyPlz =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::getObject();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OK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prettyPlz-&gt;doThing();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delete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prettyPlz;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Compiler error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::returnObject(prettyPlz);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OK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return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0;</a:t>
            </a:r>
            <a:br>
              <a:rPr sz="1200"/>
            </a:b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5"/>
          <p:cNvSpPr/>
          <p:nvPr/>
        </p:nvSpPr>
        <p:spPr>
          <a:xfrm>
            <a:off x="2280960" y="1464840"/>
            <a:ext cx="5113080" cy="155268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MyObject() {}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~MyObject() {}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public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static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getObject();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	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static 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returnObject(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MyObject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done);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A586E32-AC55-4423-A577-9F08B0AAB429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692280" y="1021320"/>
            <a:ext cx="7733520" cy="44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An inventory factory holds an inventory of objects that can be reused.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289800" y="465120"/>
            <a:ext cx="8563320" cy="55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 cap="small">
                <a:solidFill>
                  <a:schemeClr val="lt1"/>
                </a:solidFill>
                <a:latin typeface="Bookman Old Style"/>
                <a:ea typeface="MS PGothic"/>
              </a:rPr>
              <a:t>Example: Inventory Factory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4"/>
          <p:cNvSpPr/>
          <p:nvPr/>
        </p:nvSpPr>
        <p:spPr>
          <a:xfrm>
            <a:off x="90000" y="1545120"/>
            <a:ext cx="4625640" cy="301644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class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BaddieFactory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Singleton maybe? </a:t>
            </a:r>
            <a:r>
              <a:rPr b="0" lang="en-US" sz="1200" spc="-1" strike="noStrike">
                <a:solidFill>
                  <a:srgbClr val="008000"/>
                </a:solidFill>
                <a:latin typeface="Wingdings"/>
                <a:ea typeface="MS PGothic"/>
              </a:rPr>
              <a:t>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static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inventory[100];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// Hmm...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static int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count;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public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static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getBaddie();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returnBaddie(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done);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int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BaddieFactory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::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count = 100;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BaddieFactory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::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BaddieFactory()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for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(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int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index = 0; index &lt; count; index++)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inventory[index] =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new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Baddie();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MS PGothic"/>
              </a:rPr>
              <a:t> // What else do we need here?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6"/>
          <p:cNvSpPr/>
          <p:nvPr/>
        </p:nvSpPr>
        <p:spPr>
          <a:xfrm>
            <a:off x="4625640" y="1542600"/>
            <a:ext cx="4400280" cy="301644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BaddieFactory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::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getBaddie()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if (count &gt; 0)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return inventory[--count];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return nullptr;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BaddieFactory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::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returnBaddie(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 </a:t>
            </a:r>
            <a:r>
              <a:rPr b="0" lang="en-US" sz="1200" spc="-1" strike="noStrike">
                <a:solidFill>
                  <a:schemeClr val="dk2">
                    <a:lumMod val="75000"/>
                    <a:lumOff val="25000"/>
                  </a:schemeClr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done)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if (count &lt; 99)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inventory[count++] = done;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else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   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delete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done;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void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  <a:ea typeface="MS PGothic"/>
              </a:rPr>
              <a:t>BaddieFactory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  <a:ea typeface="MS PGothic"/>
              </a:rPr>
              <a:t>::</a:t>
            </a:r>
            <a:r>
              <a:rPr b="0" lang="en-US" sz="1200" spc="-1" strike="noStrike">
                <a:solidFill>
                  <a:srgbClr val="000000"/>
                </a:solidFill>
                <a:latin typeface="Consolas"/>
                <a:ea typeface="MS PGothic"/>
              </a:rPr>
              <a:t>~BaddieFactory { ... 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E92DC50-644C-4C1B-B261-DE3B8550B196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35128</TotalTime>
  <Application>LibreOffice/24.2.7.2$Linux_X86_64 LibreOffice_project/420$Build-2</Application>
  <AppVersion>15.0000</AppVersion>
  <Words>1197</Words>
  <Paragraphs>246</Paragraphs>
  <Company>UF College of Engineering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2013-09-18T13:46:37Z</dcterms:created>
  <dc:creator>Cocherell,Teresa D</dc:creator>
  <dc:description/>
  <dc:language>ja-JP</dc:language>
  <cp:lastModifiedBy>Jeremiah Blanchard</cp:lastModifiedBy>
  <cp:lastPrinted>2014-01-31T19:29:42Z</cp:lastPrinted>
  <dcterms:modified xsi:type="dcterms:W3CDTF">2025-11-20T15:56:56Z</dcterms:modified>
  <cp:revision>764</cp:revision>
  <dc:subject/>
  <dc:title>College Performance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