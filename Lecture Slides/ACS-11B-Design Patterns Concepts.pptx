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11"/>
  </p:notesMasterIdLst>
  <p:sldIdLst>
    <p:sldId id="256" r:id="rId2"/>
    <p:sldId id="259" r:id="rId3"/>
    <p:sldId id="270" r:id="rId4"/>
    <p:sldId id="258" r:id="rId5"/>
    <p:sldId id="276" r:id="rId6"/>
    <p:sldId id="269" r:id="rId7"/>
    <p:sldId id="283" r:id="rId8"/>
    <p:sldId id="284" r:id="rId9"/>
    <p:sldId id="28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964" autoAdjust="0"/>
  </p:normalViewPr>
  <p:slideViewPr>
    <p:cSldViewPr snapToGrid="0">
      <p:cViewPr varScale="1">
        <p:scale>
          <a:sx n="84" d="100"/>
          <a:sy n="84" d="100"/>
        </p:scale>
        <p:origin x="732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5F4C6-6A91-4F4A-85D5-4E6F37943FA8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ACF6C-656D-4CE9-8635-70592F770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1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70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66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76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17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99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82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27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70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min</a:t>
            </a:r>
          </a:p>
          <a:p>
            <a:endParaRPr lang="en-US" dirty="0"/>
          </a:p>
          <a:p>
            <a:r>
              <a:rPr lang="en-US"/>
              <a:t>Total: 14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ACF6C-656D-4CE9-8635-70592F7709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6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2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9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6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5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43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10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2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4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5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2771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26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7095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20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1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6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FEBBB-6376-43BD-AEDB-807EF1CF29F6}" type="datetimeFigureOut">
              <a:rPr lang="en-US" smtClean="0"/>
              <a:t>2022-11-27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E005765-DA39-4F95-9C74-7DFE6D934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12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509" y="2292702"/>
            <a:ext cx="10097871" cy="1646302"/>
          </a:xfrm>
        </p:spPr>
        <p:txBody>
          <a:bodyPr/>
          <a:lstStyle/>
          <a:p>
            <a:r>
              <a:rPr lang="en-US" sz="6600" dirty="0"/>
              <a:t>Design Patterns Concepts</a:t>
            </a:r>
          </a:p>
        </p:txBody>
      </p:sp>
    </p:spTree>
    <p:extLst>
      <p:ext uri="{BB962C8B-B14F-4D97-AF65-F5344CB8AC3E}">
        <p14:creationId xmlns:p14="http://schemas.microsoft.com/office/powerpoint/2010/main" val="413030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design patterns are there?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64560"/>
            <a:ext cx="9848134" cy="3542899"/>
          </a:xfrm>
        </p:spPr>
        <p:txBody>
          <a:bodyPr>
            <a:normAutofit/>
          </a:bodyPr>
          <a:lstStyle/>
          <a:p>
            <a:r>
              <a:rPr lang="en-US" sz="2400" dirty="0"/>
              <a:t>“</a:t>
            </a:r>
            <a:r>
              <a:rPr lang="en-US" sz="2400" i="1" u="sng" dirty="0"/>
              <a:t>Design Patterns: Elements of Reusable Object-Oriented Software”</a:t>
            </a:r>
            <a:r>
              <a:rPr lang="en-US" sz="2400" dirty="0"/>
              <a:t> (“Gang of 4”) described </a:t>
            </a:r>
            <a:r>
              <a:rPr lang="en-US" sz="2400" b="1" dirty="0">
                <a:solidFill>
                  <a:srgbClr val="00B0F0"/>
                </a:solidFill>
              </a:rPr>
              <a:t>23</a:t>
            </a:r>
            <a:r>
              <a:rPr lang="en-US" sz="2400" dirty="0"/>
              <a:t> patterns</a:t>
            </a:r>
          </a:p>
          <a:p>
            <a:pPr lvl="1"/>
            <a:r>
              <a:rPr lang="en-US" sz="2400" dirty="0"/>
              <a:t>More can be created, but these are well-recognized</a:t>
            </a:r>
          </a:p>
          <a:p>
            <a:endParaRPr lang="en-US" sz="2400" dirty="0"/>
          </a:p>
          <a:p>
            <a:r>
              <a:rPr lang="en-US" sz="2400" dirty="0"/>
              <a:t>We create / discover custom patterns all the time</a:t>
            </a:r>
          </a:p>
          <a:p>
            <a:pPr lvl="1"/>
            <a:r>
              <a:rPr lang="en-US" sz="2000" dirty="0"/>
              <a:t>May bear similarities to existing patterns</a:t>
            </a:r>
          </a:p>
          <a:p>
            <a:pPr lvl="1"/>
            <a:r>
              <a:rPr lang="en-US" sz="2000" dirty="0"/>
              <a:t>May be insufficiently different to be considered something new</a:t>
            </a:r>
          </a:p>
        </p:txBody>
      </p:sp>
    </p:spTree>
    <p:extLst>
      <p:ext uri="{BB962C8B-B14F-4D97-AF65-F5344CB8AC3E}">
        <p14:creationId xmlns:p14="http://schemas.microsoft.com/office/powerpoint/2010/main" val="310820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75473"/>
            <a:ext cx="8596668" cy="771813"/>
          </a:xfrm>
        </p:spPr>
        <p:txBody>
          <a:bodyPr/>
          <a:lstStyle/>
          <a:p>
            <a:r>
              <a:rPr lang="en-US" dirty="0"/>
              <a:t>Patterns from a Birds-Eye 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7334" y="1296258"/>
            <a:ext cx="9104772" cy="45104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dirty="0"/>
              <a:t>Generally, we consider three (3) types of patterns.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DF61B8-0A12-40CA-87E3-C5F343EEB6D7}"/>
              </a:ext>
            </a:extLst>
          </p:cNvPr>
          <p:cNvSpPr txBox="1">
            <a:spLocks/>
          </p:cNvSpPr>
          <p:nvPr/>
        </p:nvSpPr>
        <p:spPr>
          <a:xfrm>
            <a:off x="677334" y="1898296"/>
            <a:ext cx="2261382" cy="2061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b="1" u="sng" dirty="0">
                <a:solidFill>
                  <a:srgbClr val="FFC000"/>
                </a:solidFill>
              </a:rPr>
              <a:t>Creational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b="1" dirty="0">
                <a:solidFill>
                  <a:srgbClr val="00B050"/>
                </a:solidFill>
              </a:rPr>
              <a:t>Factory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chemeClr val="tx1"/>
                </a:solidFill>
              </a:rPr>
              <a:t>Builder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chemeClr val="tx1"/>
                </a:solidFill>
              </a:rPr>
              <a:t>Prototype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rgbClr val="00B050"/>
                </a:solidFill>
              </a:rPr>
              <a:t>Singleton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94D608-A419-4356-BD1A-5FDD52F55FF8}"/>
              </a:ext>
            </a:extLst>
          </p:cNvPr>
          <p:cNvSpPr txBox="1">
            <a:spLocks/>
          </p:cNvSpPr>
          <p:nvPr/>
        </p:nvSpPr>
        <p:spPr>
          <a:xfrm>
            <a:off x="3691963" y="1898296"/>
            <a:ext cx="1820751" cy="4223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b="1" u="sng" dirty="0">
                <a:solidFill>
                  <a:srgbClr val="FFC000"/>
                </a:solidFill>
              </a:rPr>
              <a:t>Structural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chemeClr val="tx1"/>
                </a:solidFill>
              </a:rPr>
              <a:t>Adapter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chemeClr val="tx1"/>
                </a:solidFill>
              </a:rPr>
              <a:t>Bridge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rgbClr val="00B0F0"/>
                </a:solidFill>
              </a:rPr>
              <a:t>Composite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rgbClr val="00B0F0"/>
                </a:solidFill>
              </a:rPr>
              <a:t>Decorator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chemeClr val="tx1"/>
                </a:solidFill>
              </a:rPr>
              <a:t>Façade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chemeClr val="tx1"/>
                </a:solidFill>
              </a:rPr>
              <a:t>Flyweight</a:t>
            </a:r>
          </a:p>
          <a:p>
            <a:pPr marL="0" indent="0" defTabSz="914400">
              <a:lnSpc>
                <a:spcPct val="70000"/>
              </a:lnSpc>
              <a:buFont typeface="Wingdings 3" charset="2"/>
              <a:buNone/>
            </a:pPr>
            <a:r>
              <a:rPr lang="en-US" sz="2600" dirty="0">
                <a:solidFill>
                  <a:schemeClr val="tx1"/>
                </a:solidFill>
              </a:rPr>
              <a:t>Proxy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22B00B-1500-4A27-BE19-A411EEF14D71}"/>
              </a:ext>
            </a:extLst>
          </p:cNvPr>
          <p:cNvSpPr txBox="1">
            <a:spLocks/>
          </p:cNvSpPr>
          <p:nvPr/>
        </p:nvSpPr>
        <p:spPr>
          <a:xfrm>
            <a:off x="6603174" y="1898296"/>
            <a:ext cx="3599951" cy="49425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b="1" u="sng" dirty="0">
                <a:solidFill>
                  <a:srgbClr val="FFC000"/>
                </a:solidFill>
              </a:rPr>
              <a:t>Behavioral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Chain of Responsibility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Command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Interpreter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rgbClr val="00B050"/>
                </a:solidFill>
              </a:rPr>
              <a:t>Iterator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Mediator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Memento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rgbClr val="00B0F0"/>
                </a:solidFill>
              </a:rPr>
              <a:t>Observer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State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chemeClr val="tx1"/>
                </a:solidFill>
              </a:rPr>
              <a:t>Strategy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rgbClr val="00B050"/>
                </a:solidFill>
              </a:rPr>
              <a:t>Template</a:t>
            </a:r>
          </a:p>
          <a:p>
            <a:pPr marL="0" indent="0" defTabSz="914400">
              <a:lnSpc>
                <a:spcPct val="90000"/>
              </a:lnSpc>
              <a:buFont typeface="Wingdings 3" charset="2"/>
              <a:buNone/>
            </a:pPr>
            <a:r>
              <a:rPr lang="en-US" sz="2800" dirty="0">
                <a:solidFill>
                  <a:srgbClr val="00B0F0"/>
                </a:solidFill>
              </a:rPr>
              <a:t>Visitor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CB581-635E-459F-BE87-0B7AC7751F08}"/>
              </a:ext>
            </a:extLst>
          </p:cNvPr>
          <p:cNvSpPr txBox="1"/>
          <p:nvPr/>
        </p:nvSpPr>
        <p:spPr>
          <a:xfrm>
            <a:off x="578902" y="5416337"/>
            <a:ext cx="5650860" cy="830997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 sz="2400" dirty="0"/>
              <a:t>No need to learn them all, and some might be used much more frequently</a:t>
            </a:r>
          </a:p>
        </p:txBody>
      </p:sp>
    </p:spTree>
    <p:extLst>
      <p:ext uri="{BB962C8B-B14F-4D97-AF65-F5344CB8AC3E}">
        <p14:creationId xmlns:p14="http://schemas.microsoft.com/office/powerpoint/2010/main" val="297814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08" y="609600"/>
            <a:ext cx="8596668" cy="833204"/>
          </a:xfrm>
        </p:spPr>
        <p:txBody>
          <a:bodyPr/>
          <a:lstStyle/>
          <a:p>
            <a:r>
              <a:rPr lang="en-US" dirty="0"/>
              <a:t>Design Patterns – How &amp;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608" y="1534424"/>
            <a:ext cx="8986362" cy="39651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u="sng" dirty="0"/>
              <a:t>Design Patterns provide a formalized solution to a set of problems.</a:t>
            </a:r>
          </a:p>
          <a:p>
            <a:r>
              <a:rPr lang="en-US" sz="2800" dirty="0"/>
              <a:t>Abstractions help us think about and compare solutions</a:t>
            </a:r>
          </a:p>
          <a:p>
            <a:r>
              <a:rPr lang="en-US" sz="2800" i="1" dirty="0"/>
              <a:t>Array? Vector? Linked List? Deque?...</a:t>
            </a:r>
          </a:p>
          <a:p>
            <a:r>
              <a:rPr lang="en-US" sz="2800" dirty="0"/>
              <a:t>Are they interchangeable? What’s the tradeoff?</a:t>
            </a:r>
          </a:p>
          <a:p>
            <a:r>
              <a:rPr lang="en-US" sz="2800" dirty="0"/>
              <a:t>If it’s just “magic”, it’s hard to analyze.</a:t>
            </a:r>
          </a:p>
          <a:p>
            <a:pPr marL="457200" lvl="1" indent="0">
              <a:buNone/>
            </a:pPr>
            <a:endParaRPr lang="en-US" sz="2600" b="1" dirty="0"/>
          </a:p>
          <a:p>
            <a:pPr marL="0" indent="0">
              <a:buNone/>
            </a:pPr>
            <a:r>
              <a:rPr lang="en-US" sz="2800" u="sng" dirty="0"/>
              <a:t>So I should use all of them for every project, right?! (no.)</a:t>
            </a:r>
          </a:p>
          <a:p>
            <a:r>
              <a:rPr lang="en-US" sz="2800" dirty="0"/>
              <a:t>Choose the right tool for the job</a:t>
            </a:r>
          </a:p>
          <a:p>
            <a:r>
              <a:rPr lang="en-US" sz="2800" dirty="0"/>
              <a:t>A shovel is great for digging or filling holes</a:t>
            </a:r>
          </a:p>
          <a:p>
            <a:r>
              <a:rPr lang="en-US" sz="2800" dirty="0"/>
              <a:t>Not so good at pounding nails, removing screws, raking leaves, 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5873" y="6186130"/>
            <a:ext cx="6772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Hopefully none of those are still magic to you… #</a:t>
            </a:r>
            <a:r>
              <a:rPr lang="en-US" sz="1400" dirty="0" err="1">
                <a:solidFill>
                  <a:schemeClr val="accent1"/>
                </a:solidFill>
              </a:rPr>
              <a:t>sadinstructor</a:t>
            </a:r>
            <a:endParaRPr lang="en-US" sz="140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931B6-515B-4B1E-B547-E5E835AD30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497"/>
          <a:stretch/>
        </p:blipFill>
        <p:spPr>
          <a:xfrm>
            <a:off x="8079573" y="2017335"/>
            <a:ext cx="3778882" cy="28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2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0100"/>
          </a:xfrm>
        </p:spPr>
        <p:txBody>
          <a:bodyPr>
            <a:normAutofit/>
          </a:bodyPr>
          <a:lstStyle/>
          <a:p>
            <a:r>
              <a:rPr lang="en-US" dirty="0"/>
              <a:t>What is the “Right Tool for the Job”?</a:t>
            </a:r>
          </a:p>
        </p:txBody>
      </p:sp>
      <p:sp>
        <p:nvSpPr>
          <p:cNvPr id="15" name="Freeform 14"/>
          <p:cNvSpPr>
            <a:spLocks noChangeAspect="1"/>
          </p:cNvSpPr>
          <p:nvPr/>
        </p:nvSpPr>
        <p:spPr>
          <a:xfrm>
            <a:off x="3150127" y="1404161"/>
            <a:ext cx="3252169" cy="3252169"/>
          </a:xfrm>
          <a:custGeom>
            <a:avLst/>
            <a:gdLst>
              <a:gd name="connsiteX0" fmla="*/ 0 w 2677159"/>
              <a:gd name="connsiteY0" fmla="*/ 1338580 h 2677159"/>
              <a:gd name="connsiteX1" fmla="*/ 1338580 w 2677159"/>
              <a:gd name="connsiteY1" fmla="*/ 0 h 2677159"/>
              <a:gd name="connsiteX2" fmla="*/ 2677160 w 2677159"/>
              <a:gd name="connsiteY2" fmla="*/ 1338580 h 2677159"/>
              <a:gd name="connsiteX3" fmla="*/ 1338580 w 2677159"/>
              <a:gd name="connsiteY3" fmla="*/ 2677160 h 2677159"/>
              <a:gd name="connsiteX4" fmla="*/ 0 w 2677159"/>
              <a:gd name="connsiteY4" fmla="*/ 1338580 h 267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7159" h="2677159">
                <a:moveTo>
                  <a:pt x="0" y="1338580"/>
                </a:moveTo>
                <a:cubicBezTo>
                  <a:pt x="0" y="599303"/>
                  <a:pt x="599303" y="0"/>
                  <a:pt x="1338580" y="0"/>
                </a:cubicBezTo>
                <a:cubicBezTo>
                  <a:pt x="2077857" y="0"/>
                  <a:pt x="2677160" y="599303"/>
                  <a:pt x="2677160" y="1338580"/>
                </a:cubicBezTo>
                <a:cubicBezTo>
                  <a:pt x="2677160" y="2077857"/>
                  <a:pt x="2077857" y="2677160"/>
                  <a:pt x="1338580" y="2677160"/>
                </a:cubicBezTo>
                <a:cubicBezTo>
                  <a:pt x="599303" y="2677160"/>
                  <a:pt x="0" y="2077857"/>
                  <a:pt x="0" y="133858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356955" tIns="468503" rIns="356954" bIns="1003935" numCol="1" spcCol="1270" anchor="ctr" anchorCtr="0">
            <a:noAutofit/>
          </a:bodyPr>
          <a:lstStyle/>
          <a:p>
            <a:pPr lvl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kern="1200" dirty="0"/>
              <a:t>3D Modeler</a:t>
            </a:r>
          </a:p>
        </p:txBody>
      </p:sp>
      <p:sp>
        <p:nvSpPr>
          <p:cNvPr id="16" name="Freeform 15"/>
          <p:cNvSpPr>
            <a:spLocks noChangeAspect="1"/>
          </p:cNvSpPr>
          <p:nvPr/>
        </p:nvSpPr>
        <p:spPr>
          <a:xfrm>
            <a:off x="4263616" y="3274026"/>
            <a:ext cx="3252169" cy="3252169"/>
          </a:xfrm>
          <a:custGeom>
            <a:avLst/>
            <a:gdLst>
              <a:gd name="connsiteX0" fmla="*/ 0 w 2677159"/>
              <a:gd name="connsiteY0" fmla="*/ 1338580 h 2677159"/>
              <a:gd name="connsiteX1" fmla="*/ 1338580 w 2677159"/>
              <a:gd name="connsiteY1" fmla="*/ 0 h 2677159"/>
              <a:gd name="connsiteX2" fmla="*/ 2677160 w 2677159"/>
              <a:gd name="connsiteY2" fmla="*/ 1338580 h 2677159"/>
              <a:gd name="connsiteX3" fmla="*/ 1338580 w 2677159"/>
              <a:gd name="connsiteY3" fmla="*/ 2677160 h 2677159"/>
              <a:gd name="connsiteX4" fmla="*/ 0 w 2677159"/>
              <a:gd name="connsiteY4" fmla="*/ 1338580 h 267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7159" h="2677159">
                <a:moveTo>
                  <a:pt x="0" y="1338580"/>
                </a:moveTo>
                <a:cubicBezTo>
                  <a:pt x="0" y="599303"/>
                  <a:pt x="599303" y="0"/>
                  <a:pt x="1338580" y="0"/>
                </a:cubicBezTo>
                <a:cubicBezTo>
                  <a:pt x="2077857" y="0"/>
                  <a:pt x="2677160" y="599303"/>
                  <a:pt x="2677160" y="1338580"/>
                </a:cubicBezTo>
                <a:cubicBezTo>
                  <a:pt x="2677160" y="2077857"/>
                  <a:pt x="2077857" y="2677160"/>
                  <a:pt x="1338580" y="2677160"/>
                </a:cubicBezTo>
                <a:cubicBezTo>
                  <a:pt x="599303" y="2677160"/>
                  <a:pt x="0" y="2077857"/>
                  <a:pt x="0" y="133858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818764" tIns="691599" rIns="252100" bIns="513123" numCol="1" spcCol="1270" anchor="ctr" anchorCtr="0">
            <a:noAutofit/>
          </a:bodyPr>
          <a:lstStyle/>
          <a:p>
            <a:pPr lvl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kern="1200" dirty="0"/>
              <a:t>Game</a:t>
            </a:r>
          </a:p>
        </p:txBody>
      </p:sp>
      <p:sp>
        <p:nvSpPr>
          <p:cNvPr id="17" name="Freeform 16"/>
          <p:cNvSpPr>
            <a:spLocks noChangeAspect="1"/>
          </p:cNvSpPr>
          <p:nvPr/>
        </p:nvSpPr>
        <p:spPr>
          <a:xfrm>
            <a:off x="2036639" y="3274026"/>
            <a:ext cx="3252169" cy="3252169"/>
          </a:xfrm>
          <a:custGeom>
            <a:avLst/>
            <a:gdLst>
              <a:gd name="connsiteX0" fmla="*/ 0 w 2677159"/>
              <a:gd name="connsiteY0" fmla="*/ 1338580 h 2677159"/>
              <a:gd name="connsiteX1" fmla="*/ 1338580 w 2677159"/>
              <a:gd name="connsiteY1" fmla="*/ 0 h 2677159"/>
              <a:gd name="connsiteX2" fmla="*/ 2677160 w 2677159"/>
              <a:gd name="connsiteY2" fmla="*/ 1338580 h 2677159"/>
              <a:gd name="connsiteX3" fmla="*/ 1338580 w 2677159"/>
              <a:gd name="connsiteY3" fmla="*/ 2677160 h 2677159"/>
              <a:gd name="connsiteX4" fmla="*/ 0 w 2677159"/>
              <a:gd name="connsiteY4" fmla="*/ 1338580 h 267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7159" h="2677159">
                <a:moveTo>
                  <a:pt x="0" y="1338580"/>
                </a:moveTo>
                <a:cubicBezTo>
                  <a:pt x="0" y="599303"/>
                  <a:pt x="599303" y="0"/>
                  <a:pt x="1338580" y="0"/>
                </a:cubicBezTo>
                <a:cubicBezTo>
                  <a:pt x="2077857" y="0"/>
                  <a:pt x="2677160" y="599303"/>
                  <a:pt x="2677160" y="1338580"/>
                </a:cubicBezTo>
                <a:cubicBezTo>
                  <a:pt x="2677160" y="2077857"/>
                  <a:pt x="2077857" y="2677160"/>
                  <a:pt x="1338580" y="2677160"/>
                </a:cubicBezTo>
                <a:cubicBezTo>
                  <a:pt x="599303" y="2677160"/>
                  <a:pt x="0" y="2077857"/>
                  <a:pt x="0" y="133858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252099" tIns="691599" rIns="818765" bIns="513123" numCol="1" spcCol="1270" anchor="ctr" anchorCtr="0">
            <a:noAutofit/>
          </a:bodyPr>
          <a:lstStyle/>
          <a:p>
            <a:pPr lvl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kern="1200" dirty="0"/>
              <a:t>Text</a:t>
            </a:r>
            <a:br>
              <a:rPr lang="en-US" sz="3200" kern="1200" dirty="0"/>
            </a:br>
            <a:r>
              <a:rPr lang="en-US" sz="3200" kern="1200" dirty="0"/>
              <a:t>Editor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3181" y="2864252"/>
            <a:ext cx="4036096" cy="1200329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How do we know? Learn it, think about it, try it out, screw it up, try again, etc…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9AF516-42E6-4966-95D5-AC3836E80384}"/>
              </a:ext>
            </a:extLst>
          </p:cNvPr>
          <p:cNvSpPr/>
          <p:nvPr/>
        </p:nvSpPr>
        <p:spPr>
          <a:xfrm>
            <a:off x="3308536" y="3474707"/>
            <a:ext cx="1375571" cy="493465"/>
          </a:xfrm>
          <a:prstGeom prst="roundRect">
            <a:avLst>
              <a:gd name="adj" fmla="val 3260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Menu UI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08991" y="2414778"/>
            <a:ext cx="3181351" cy="1199701"/>
            <a:chOff x="2914649" y="2515049"/>
            <a:chExt cx="3181351" cy="1199701"/>
          </a:xfrm>
        </p:grpSpPr>
        <p:sp>
          <p:nvSpPr>
            <p:cNvPr id="20" name="TextBox 19"/>
            <p:cNvSpPr txBox="1"/>
            <p:nvPr/>
          </p:nvSpPr>
          <p:spPr>
            <a:xfrm>
              <a:off x="2914649" y="2515049"/>
              <a:ext cx="2255401" cy="46166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This pattern…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4667250" y="2990850"/>
              <a:ext cx="1428750" cy="7239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FC4E983-2F93-4670-A017-2EA6DA249A8A}"/>
              </a:ext>
            </a:extLst>
          </p:cNvPr>
          <p:cNvSpPr/>
          <p:nvPr/>
        </p:nvSpPr>
        <p:spPr>
          <a:xfrm>
            <a:off x="4895684" y="3487992"/>
            <a:ext cx="1375571" cy="493465"/>
          </a:xfrm>
          <a:prstGeom prst="roundRect">
            <a:avLst>
              <a:gd name="adj" fmla="val 3260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Camera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774542" y="1410033"/>
            <a:ext cx="4487995" cy="2311407"/>
            <a:chOff x="1234728" y="2344519"/>
            <a:chExt cx="4487995" cy="2311407"/>
          </a:xfrm>
        </p:grpSpPr>
        <p:cxnSp>
          <p:nvCxnSpPr>
            <p:cNvPr id="26" name="Straight Arrow Connector 25"/>
            <p:cNvCxnSpPr/>
            <p:nvPr/>
          </p:nvCxnSpPr>
          <p:spPr>
            <a:xfrm flipH="1">
              <a:off x="1234728" y="2990850"/>
              <a:ext cx="2246142" cy="16650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914650" y="2344519"/>
              <a:ext cx="2808073" cy="830997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dirty="0"/>
                <a:t>Could be a terrible choice to use here</a:t>
              </a:r>
            </a:p>
          </p:txBody>
        </p:sp>
      </p:grp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4E45B8B-6B45-425A-8AE0-25E29BCE5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678" y="5505227"/>
            <a:ext cx="7813167" cy="1213922"/>
          </a:xfrm>
          <a:solidFill>
            <a:srgbClr val="990000"/>
          </a:solidFill>
          <a:ln w="254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We almost always need to tailor patterns to our needs. That’s OK! Formalization</a:t>
            </a:r>
            <a:r>
              <a:rPr lang="en-US" sz="2400" baseline="0" dirty="0"/>
              <a:t> might not perfectly fit our use case as-is,</a:t>
            </a:r>
            <a:r>
              <a:rPr lang="en-US" sz="2400" dirty="0"/>
              <a:t> so we rework them (with care)</a:t>
            </a:r>
            <a:endParaRPr lang="en-US" sz="2400" baseline="0" dirty="0"/>
          </a:p>
        </p:txBody>
      </p:sp>
    </p:spTree>
    <p:extLst>
      <p:ext uri="{BB962C8B-B14F-4D97-AF65-F5344CB8AC3E}">
        <p14:creationId xmlns:p14="http://schemas.microsoft.com/office/powerpoint/2010/main" val="177647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13560"/>
            <a:ext cx="9440060" cy="3997305"/>
          </a:xfrm>
        </p:spPr>
        <p:txBody>
          <a:bodyPr>
            <a:normAutofit/>
          </a:bodyPr>
          <a:lstStyle/>
          <a:p>
            <a:r>
              <a:rPr lang="en-US" sz="2400" dirty="0"/>
              <a:t>The opposite of design patterns</a:t>
            </a:r>
          </a:p>
          <a:p>
            <a:r>
              <a:rPr lang="en-US" sz="2400" dirty="0"/>
              <a:t>If design patterns are helpful, then anti-patterns are:</a:t>
            </a:r>
          </a:p>
          <a:p>
            <a:pPr lvl="1"/>
            <a:r>
              <a:rPr lang="en-US" sz="2400" dirty="0"/>
              <a:t>Things you have </a:t>
            </a:r>
            <a:r>
              <a:rPr lang="en-US" sz="2400" u="sng" dirty="0"/>
              <a:t>probably done</a:t>
            </a:r>
            <a:r>
              <a:rPr lang="en-US" sz="2400" dirty="0"/>
              <a:t> or </a:t>
            </a:r>
            <a:r>
              <a:rPr lang="en-US" sz="2400" u="sng" dirty="0"/>
              <a:t>will do</a:t>
            </a:r>
            <a:r>
              <a:rPr lang="en-US" sz="2400" dirty="0"/>
              <a:t> some day</a:t>
            </a:r>
          </a:p>
          <a:p>
            <a:pPr lvl="1"/>
            <a:r>
              <a:rPr lang="en-US" sz="2400" dirty="0"/>
              <a:t>But you should probably avoid…</a:t>
            </a:r>
          </a:p>
          <a:p>
            <a:r>
              <a:rPr lang="en-US" sz="2400" dirty="0"/>
              <a:t>They may be things that you (or your team) do unintentionally</a:t>
            </a:r>
          </a:p>
          <a:p>
            <a:r>
              <a:rPr lang="en-US" sz="2400" dirty="0"/>
              <a:t>Originally coined to describe bad practices in software, might also be applied to problem solving in general</a:t>
            </a:r>
          </a:p>
          <a:p>
            <a:r>
              <a:rPr lang="en-US" sz="2400" dirty="0"/>
              <a:t>May often be used to describe issues not specific to code</a:t>
            </a:r>
          </a:p>
        </p:txBody>
      </p:sp>
    </p:spTree>
    <p:extLst>
      <p:ext uri="{BB962C8B-B14F-4D97-AF65-F5344CB8AC3E}">
        <p14:creationId xmlns:p14="http://schemas.microsoft.com/office/powerpoint/2010/main" val="147584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Anti-Pattern: Bicycle Shed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88161"/>
            <a:ext cx="8063543" cy="4253202"/>
          </a:xfrm>
        </p:spPr>
        <p:txBody>
          <a:bodyPr>
            <a:noAutofit/>
          </a:bodyPr>
          <a:lstStyle/>
          <a:p>
            <a:r>
              <a:rPr lang="en-US" sz="2400" dirty="0"/>
              <a:t>Want to build something big and impressive, like a football stadium?</a:t>
            </a:r>
          </a:p>
          <a:p>
            <a:r>
              <a:rPr lang="en-US" sz="2400" dirty="0"/>
              <a:t>What should be focus of design or architectural work? What should have the most effort put into it?</a:t>
            </a:r>
          </a:p>
          <a:p>
            <a:r>
              <a:rPr lang="en-US" sz="2400" dirty="0"/>
              <a:t>The parking structures? Load-bearing supports for all of the seats? What about a dome? Sound system?</a:t>
            </a:r>
          </a:p>
          <a:p>
            <a:pPr lvl="1"/>
            <a:r>
              <a:rPr lang="en-US" sz="2000" dirty="0"/>
              <a:t>Hmm, those sound like hard problems to solve…</a:t>
            </a:r>
          </a:p>
          <a:p>
            <a:r>
              <a:rPr lang="en-US" sz="2400" dirty="0"/>
              <a:t>What about the bicycle shed used by employees?</a:t>
            </a:r>
          </a:p>
          <a:p>
            <a:pPr lvl="1"/>
            <a:r>
              <a:rPr lang="en-US" sz="2000" dirty="0"/>
              <a:t>Easy to figure out, let’s focus on that!</a:t>
            </a:r>
          </a:p>
          <a:p>
            <a:pPr lvl="1"/>
            <a:r>
              <a:rPr lang="en-US" sz="2000" dirty="0"/>
              <a:t>Build the most impressive bike shed ever!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92036" y="3303639"/>
            <a:ext cx="3461203" cy="1754326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same can be done with code. Write code to solve easy stuff, and focus on that… </a:t>
            </a:r>
          </a:p>
          <a:p>
            <a:endParaRPr lang="en-US" dirty="0"/>
          </a:p>
          <a:p>
            <a:r>
              <a:rPr lang="en-US" dirty="0"/>
              <a:t>…while avoid the more difficult aspects of a project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92036" y="5347459"/>
            <a:ext cx="3461203" cy="1200329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Some design patterns may drawbacks to them, and may be considered anti-patterns if not implemented carefully</a:t>
            </a:r>
          </a:p>
        </p:txBody>
      </p:sp>
    </p:spTree>
    <p:extLst>
      <p:ext uri="{BB962C8B-B14F-4D97-AF65-F5344CB8AC3E}">
        <p14:creationId xmlns:p14="http://schemas.microsoft.com/office/powerpoint/2010/main" val="229780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BCEA-749C-483D-9BB4-446EFEB1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Criticisms of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D12E2-4AAA-4A75-941D-CB3161F62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81" y="1631237"/>
            <a:ext cx="10341516" cy="37235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There is some criticism of design patterns as unnecessary. </a:t>
            </a:r>
          </a:p>
          <a:p>
            <a:r>
              <a:rPr lang="en-US" sz="2000" dirty="0"/>
              <a:t>Argue that they are ways to paper over language-specific deficiencies (e.g., vs LISP)</a:t>
            </a:r>
          </a:p>
          <a:p>
            <a:r>
              <a:rPr lang="en-US" sz="2000" dirty="0"/>
              <a:t>By relation, some programming paradigms (up next!) have them “baked in”</a:t>
            </a:r>
          </a:p>
          <a:p>
            <a:r>
              <a:rPr lang="en-US" sz="2000" dirty="0"/>
              <a:t>Can be easily abused / overused (i.e., they can become anti-patterns)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As with many ideas in artistic craft – few rules are absolute. Rules are for breaking!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(But not my rules. Follow those. Also, don’t ever overload </a:t>
            </a:r>
            <a:r>
              <a:rPr lang="en-US" sz="2000" dirty="0" err="1">
                <a:sym typeface="Wingdings" panose="05000000000000000000" pitchFamily="2" charset="2"/>
              </a:rPr>
              <a:t>parens</a:t>
            </a:r>
            <a:r>
              <a:rPr lang="en-US" sz="2000" dirty="0">
                <a:sym typeface="Wingdings" panose="05000000000000000000" pitchFamily="2" charset="2"/>
              </a:rPr>
              <a:t> for non-functors.)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(#bracesonnextlineftw, #spaces4ever)</a:t>
            </a:r>
          </a:p>
        </p:txBody>
      </p:sp>
    </p:spTree>
    <p:extLst>
      <p:ext uri="{BB962C8B-B14F-4D97-AF65-F5344CB8AC3E}">
        <p14:creationId xmlns:p14="http://schemas.microsoft.com/office/powerpoint/2010/main" val="203512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668521"/>
            <a:ext cx="8596668" cy="957943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3" y="1930400"/>
            <a:ext cx="9738118" cy="3780107"/>
          </a:xfrm>
        </p:spPr>
        <p:txBody>
          <a:bodyPr>
            <a:noAutofit/>
          </a:bodyPr>
          <a:lstStyle/>
          <a:p>
            <a:r>
              <a:rPr lang="en-US" sz="2800" dirty="0"/>
              <a:t>Design patterns are known solutions to common problems</a:t>
            </a:r>
          </a:p>
          <a:p>
            <a:r>
              <a:rPr lang="en-US" sz="2800" dirty="0"/>
              <a:t>We can implement these to (help) solve problems</a:t>
            </a:r>
          </a:p>
          <a:p>
            <a:r>
              <a:rPr lang="en-US" sz="2800" dirty="0"/>
              <a:t>Patterns are conceptual; exact implementations vary</a:t>
            </a:r>
          </a:p>
          <a:p>
            <a:r>
              <a:rPr lang="en-US" sz="2800" dirty="0"/>
              <a:t>Not all patterns are applicable to all programs</a:t>
            </a:r>
          </a:p>
          <a:p>
            <a:r>
              <a:rPr lang="en-US" sz="2800" dirty="0"/>
              <a:t>Patterns can help us build systems more effectively</a:t>
            </a:r>
          </a:p>
          <a:p>
            <a:r>
              <a:rPr lang="en-US" sz="2800" dirty="0"/>
              <a:t>Avoiding anti-patterns can help us doge common pitfalls</a:t>
            </a:r>
          </a:p>
        </p:txBody>
      </p:sp>
    </p:spTree>
    <p:extLst>
      <p:ext uri="{BB962C8B-B14F-4D97-AF65-F5344CB8AC3E}">
        <p14:creationId xmlns:p14="http://schemas.microsoft.com/office/powerpoint/2010/main" val="39815450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2618</TotalTime>
  <Words>723</Words>
  <Application>Microsoft Office PowerPoint</Application>
  <PresentationFormat>Widescreen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</vt:lpstr>
      <vt:lpstr>Design Patterns Concepts</vt:lpstr>
      <vt:lpstr>How many design patterns are there?</vt:lpstr>
      <vt:lpstr>Patterns from a Birds-Eye View</vt:lpstr>
      <vt:lpstr>Design Patterns – How &amp; Why</vt:lpstr>
      <vt:lpstr>What is the “Right Tool for the Job”?</vt:lpstr>
      <vt:lpstr>Anti-Patterns</vt:lpstr>
      <vt:lpstr>Anti-Pattern: Bicycle Shed</vt:lpstr>
      <vt:lpstr>Criticisms of Design Patterns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</dc:title>
  <dc:creator>Fox</dc:creator>
  <cp:lastModifiedBy>Blanchard, Jeremiah J</cp:lastModifiedBy>
  <cp:revision>122</cp:revision>
  <dcterms:created xsi:type="dcterms:W3CDTF">2018-03-30T13:37:06Z</dcterms:created>
  <dcterms:modified xsi:type="dcterms:W3CDTF">2022-11-27T23:49:37Z</dcterms:modified>
</cp:coreProperties>
</file>