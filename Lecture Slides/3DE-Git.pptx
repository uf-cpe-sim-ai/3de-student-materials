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_rels/theme4.xml.rels" ContentType="application/vnd.openxmlformats-package.relationships+xml"/>
  <Override PartName="/ppt/theme/_rels/theme13.xml.rels" ContentType="application/vnd.openxmlformats-package.relationships+xml"/>
  <Override PartName="/ppt/theme/_rels/theme3.xml.rels" ContentType="application/vnd.openxmlformats-package.relationships+xml"/>
  <Override PartName="/ppt/theme/_rels/theme12.xml.rels" ContentType="application/vnd.openxmlformats-package.relationships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17.xml.rels" ContentType="application/vnd.openxmlformats-package.relationships+xml"/>
  <Override PartName="/ppt/theme/_rels/theme7.xml.rels" ContentType="application/vnd.openxmlformats-package.relationships+xml"/>
  <Override PartName="/ppt/theme/_rels/theme16.xml.rels" ContentType="application/vnd.openxmlformats-package.relationships+xml"/>
  <Override PartName="/ppt/theme/_rels/theme15.xml.rels" ContentType="application/vnd.openxmlformats-package.relationships+xml"/>
  <Override PartName="/ppt/theme/_rels/theme6.xml.rels" ContentType="application/vnd.openxmlformats-package.relationships+xml"/>
  <Override PartName="/ppt/theme/_rels/theme14.xml.rels" ContentType="application/vnd.openxmlformats-package.relationships+xml"/>
  <Override PartName="/ppt/theme/_rels/theme5.xml.rels" ContentType="application/vnd.openxmlformats-package.relationships+xml"/>
  <Override PartName="/ppt/theme/_rels/theme11.xml.rels" ContentType="application/vnd.openxmlformats-package.relationships+xml"/>
  <Override PartName="/ppt/theme/_rels/theme2.xml.rels" ContentType="application/vnd.openxmlformats-package.relationships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7.png" ContentType="image/png"/>
  <Override PartName="/ppt/media/image11.png" ContentType="image/png"/>
  <Override PartName="/ppt/media/image8.svg" ContentType="image/svg"/>
  <Override PartName="/ppt/media/image12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5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5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DD42598-37ED-45E4-A89C-AB163F2AAA8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A8C601-CF88-44DF-AEF6-E73549C5E0E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0557C5-8F95-40D0-A9F3-FA9DD0D6403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D6DC21-522C-4742-8E86-2A01BC72F11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5E58BA-42C3-46D6-8AFB-5D05254FDB9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DABED3-63A8-4959-BCB6-83C32BE9C38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29B13E-8159-4385-8813-5211628FE59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DD722A-1A90-4C9A-A3E6-209E9AAA4CF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AADE59-A8E7-4327-A13F-2680D79E989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 min (demo?)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5DD915-09B4-4DCB-8119-42382E043FB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3680" y="2095920"/>
            <a:ext cx="10353240" cy="369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1583E-E80C-4216-B58B-FFFF09F1C8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0F0422-4B30-467D-8602-FE41C41E52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EB1AAAB-B96D-45FA-B357-5CB8D5A97B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419CB52-1903-4BBB-A28D-4A025901FE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DC8A540-A576-49D2-885D-A8179D72AF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44FCC56-4204-49F2-A9E0-389F6C22EF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0270BC-BFD9-46B0-9FC6-1084DD1A07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B1B5D7B-29F2-4D2A-A132-72A33CEC0E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19C7C22-3435-4142-94F3-7EAE6FE4E7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913680" y="2095920"/>
            <a:ext cx="10353240" cy="369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E0F3F2C-98C1-43DF-8145-21615EFD0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B6B8810-F4D2-4EC0-97B6-8C3E93E5A9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913680" y="2095920"/>
            <a:ext cx="5052240" cy="369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19000" y="2095920"/>
            <a:ext cx="5052240" cy="369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13DC391A-F0D1-40CB-8ED5-40540763A6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1FBCB842-07E4-4EB3-8183-D588683EFA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6A2FBD21-930D-4FFB-A5B0-DF449C47B6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334B8E5C-9120-4661-A3A0-EE74CE5C56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3631C6E2-2950-4F83-83F4-0DD04B6E3E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F49ACDCF-A3ED-4E7B-B25E-7C9F5D8603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95160" y="1122480"/>
            <a:ext cx="900108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8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51186D-CDD5-4CF4-BD8D-9F279FC5975E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Click to edit the outline text format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Fourth Outline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3680" y="4289400"/>
            <a:ext cx="1036728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28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3680" y="621360"/>
            <a:ext cx="10367280" cy="3379320"/>
          </a:xfrm>
          <a:prstGeom prst="rect">
            <a:avLst/>
          </a:prstGeom>
          <a:noFill/>
          <a:ln cap="sq" w="190440">
            <a:solidFill>
              <a:srgbClr val="ffffff"/>
            </a:solidFill>
            <a:miter/>
          </a:ln>
          <a:effectLst>
            <a:outerShdw dist="18000" dir="5400000" blurRad="5508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Rockwell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913680" y="5108760"/>
            <a:ext cx="10365480" cy="6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5990BF-98F0-4F04-8B85-8462FA6D3B29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342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913680" y="4204800"/>
            <a:ext cx="10353240" cy="159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6DEC6E-C0D4-4922-A527-3D1C9AA78035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4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20800" y="3610080"/>
            <a:ext cx="8751960" cy="42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913680" y="4204800"/>
            <a:ext cx="10353240" cy="158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7247EA-B980-447C-A751-3BD8E7F4F986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TextBox 10"/>
          <p:cNvSpPr/>
          <p:nvPr/>
        </p:nvSpPr>
        <p:spPr>
          <a:xfrm>
            <a:off x="836640" y="7351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Rockwell"/>
              </a:rPr>
              <a:t>“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12"/>
          <p:cNvSpPr/>
          <p:nvPr/>
        </p:nvSpPr>
        <p:spPr>
          <a:xfrm>
            <a:off x="10657800" y="29721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Rockwell"/>
              </a:rPr>
              <a:t>”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3680" y="2126880"/>
            <a:ext cx="10355040" cy="25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3680" y="4650480"/>
            <a:ext cx="1035324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732BCF-DBD3-4B36-89DC-97CDC752BC65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13680" y="2088360"/>
            <a:ext cx="329868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913680" y="2911680"/>
            <a:ext cx="3298680" cy="28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444920" y="2088360"/>
            <a:ext cx="329832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444920" y="2911680"/>
            <a:ext cx="3299400" cy="28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7973280" y="2088360"/>
            <a:ext cx="329076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7976520" y="2911680"/>
            <a:ext cx="3290760" cy="28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dt" idx="16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PlaceHolder 9"/>
          <p:cNvSpPr>
            <a:spLocks noGrp="1"/>
          </p:cNvSpPr>
          <p:nvPr>
            <p:ph type="ftr" idx="17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PlaceHolder 10"/>
          <p:cNvSpPr>
            <a:spLocks noGrp="1"/>
          </p:cNvSpPr>
          <p:nvPr>
            <p:ph type="sldNum" idx="18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F5AB7D-1F66-464C-893A-7D453F427D33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13680" y="4195800"/>
            <a:ext cx="329868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091880" y="2298960"/>
            <a:ext cx="2939760" cy="1523520"/>
          </a:xfrm>
          <a:prstGeom prst="rect">
            <a:avLst/>
          </a:prstGeom>
          <a:noFill/>
          <a:ln cap="sq" w="146160">
            <a:solidFill>
              <a:srgbClr val="ffffff"/>
            </a:solidFill>
            <a:miter/>
          </a:ln>
          <a:effectLst>
            <a:outerShdw dist="18000" dir="5400000" blurRad="5508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Click icon to add picture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913680" y="4772160"/>
            <a:ext cx="3298680" cy="101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442760" y="4195800"/>
            <a:ext cx="329868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4569120" y="2298960"/>
            <a:ext cx="2930040" cy="1523520"/>
          </a:xfrm>
          <a:prstGeom prst="rect">
            <a:avLst/>
          </a:prstGeom>
          <a:noFill/>
          <a:ln cap="sq" w="146160">
            <a:solidFill>
              <a:srgbClr val="ffffff"/>
            </a:solidFill>
            <a:miter/>
          </a:ln>
          <a:effectLst>
            <a:outerShdw dist="18000" dir="5400000" blurRad="5508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Click icon to add picture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4441320" y="4772160"/>
            <a:ext cx="3300120" cy="101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body"/>
          </p:nvPr>
        </p:nvSpPr>
        <p:spPr>
          <a:xfrm>
            <a:off x="7973280" y="4195800"/>
            <a:ext cx="328968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9" name="PlaceHolder 9"/>
          <p:cNvSpPr>
            <a:spLocks noGrp="1"/>
          </p:cNvSpPr>
          <p:nvPr>
            <p:ph type="body"/>
          </p:nvPr>
        </p:nvSpPr>
        <p:spPr>
          <a:xfrm>
            <a:off x="8152920" y="2298960"/>
            <a:ext cx="2931840" cy="1523520"/>
          </a:xfrm>
          <a:prstGeom prst="rect">
            <a:avLst/>
          </a:prstGeom>
          <a:noFill/>
          <a:ln cap="sq" w="146160">
            <a:solidFill>
              <a:srgbClr val="ffffff"/>
            </a:solidFill>
            <a:miter/>
          </a:ln>
          <a:effectLst>
            <a:outerShdw dist="18000" dir="5400000" blurRad="5508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Click icon to add picture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0" name="PlaceHolder 10"/>
          <p:cNvSpPr>
            <a:spLocks noGrp="1"/>
          </p:cNvSpPr>
          <p:nvPr>
            <p:ph type="body"/>
          </p:nvPr>
        </p:nvSpPr>
        <p:spPr>
          <a:xfrm>
            <a:off x="7973280" y="4772160"/>
            <a:ext cx="3294000" cy="101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1" name="PlaceHolder 11"/>
          <p:cNvSpPr>
            <a:spLocks noGrp="1"/>
          </p:cNvSpPr>
          <p:nvPr>
            <p:ph type="dt" idx="19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PlaceHolder 12"/>
          <p:cNvSpPr>
            <a:spLocks noGrp="1"/>
          </p:cNvSpPr>
          <p:nvPr>
            <p:ph type="ftr" idx="20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13"/>
          <p:cNvSpPr>
            <a:spLocks noGrp="1"/>
          </p:cNvSpPr>
          <p:nvPr>
            <p:ph type="sldNum" idx="21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7F280D-3AD8-4231-A65E-B39BD493844C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913680" y="2095920"/>
            <a:ext cx="1035324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2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3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4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3A5A12-7724-4F11-B1A8-0439F66E8D33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724960" y="609480"/>
            <a:ext cx="254232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913680" y="609480"/>
            <a:ext cx="76582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5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26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27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AEAE67-6EF7-4FF8-927E-32DAD31691F2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913680" y="2095920"/>
            <a:ext cx="1035324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28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29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0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891AEF-5719-4149-AA96-03CB1D3F287E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29400" y="657360"/>
            <a:ext cx="973332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229400" y="3602160"/>
            <a:ext cx="97333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31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32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33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494561-5C07-446D-9A0A-445E5188DEDD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913680" y="2088360"/>
            <a:ext cx="5105520" cy="370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173280" y="2088360"/>
            <a:ext cx="5093640" cy="370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34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35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6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843223-7646-4744-AA3E-5E6B29447EA9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1141920" y="2088360"/>
            <a:ext cx="48787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913680" y="2912400"/>
            <a:ext cx="5106960" cy="28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6401880" y="2088360"/>
            <a:ext cx="486504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172200" y="2912400"/>
            <a:ext cx="5095080" cy="28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dt" idx="37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 type="ftr" idx="38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8"/>
          <p:cNvSpPr>
            <a:spLocks noGrp="1"/>
          </p:cNvSpPr>
          <p:nvPr>
            <p:ph type="sldNum" idx="39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683D8C-A299-4723-AD45-9B64E7851262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dt" idx="40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ftr" idx="41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42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7B35E8-3928-43BF-9FB8-53D998DC4B28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dt" idx="43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ftr" idx="44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5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21C7C8-928B-43FB-8917-63C2882A28FE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7280" y="609480"/>
            <a:ext cx="3931920" cy="23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28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5078160" y="609480"/>
            <a:ext cx="618912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Rockwell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Rockwell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917280" y="2971800"/>
            <a:ext cx="3931920" cy="281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46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47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48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0C56C9-BA5E-41BC-ADC6-C23433D23C12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17280" y="609480"/>
            <a:ext cx="5929560" cy="23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pc="-1" strike="noStrike" cap="all">
                <a:solidFill>
                  <a:schemeClr val="dk1"/>
                </a:solidFill>
                <a:latin typeface="Bookman Old Style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7424640" y="758880"/>
            <a:ext cx="3255120" cy="4882680"/>
          </a:xfrm>
          <a:prstGeom prst="rect">
            <a:avLst/>
          </a:prstGeom>
          <a:noFill/>
          <a:ln cap="sq" w="190440">
            <a:solidFill>
              <a:srgbClr val="ffffff"/>
            </a:solidFill>
            <a:miter/>
          </a:ln>
          <a:effectLst>
            <a:outerShdw dist="18000" dir="5400000" blurRad="5508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Rockwell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913680" y="2971800"/>
            <a:ext cx="5934600" cy="281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Edit Master text styles</a:t>
            </a:r>
            <a:endParaRPr b="0" lang="en-US" sz="1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49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50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51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5BC57E-9DD3-4092-B21A-C881CAA892CE}" type="slidenum">
              <a:rPr b="0" lang="en-US" sz="1000" spc="-1" strike="noStrike">
                <a:solidFill>
                  <a:schemeClr val="dk1">
                    <a:tint val="75000"/>
                  </a:schemeClr>
                </a:solidFill>
                <a:latin typeface="Rockwell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sourcetreeapp.com/" TargetMode="External"/><Relationship Id="rId2" Type="http://schemas.openxmlformats.org/officeDocument/2006/relationships/hyperlink" Target="https://msdn.microsoft.com/en-us/commandline/wsl/install_guide" TargetMode="External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73920" y="0"/>
            <a:ext cx="10809360" cy="205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800" spc="-1" strike="noStrike" cap="all">
                <a:solidFill>
                  <a:schemeClr val="dk1"/>
                </a:solidFill>
                <a:latin typeface="Bookman Old Style"/>
              </a:rPr>
              <a:t>Version Control</a:t>
            </a:r>
            <a:endParaRPr b="0" lang="en-US" sz="4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703520" y="2154960"/>
            <a:ext cx="856116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Rockwell"/>
              </a:rPr>
              <a:t>“</a:t>
            </a:r>
            <a:r>
              <a:rPr b="0" lang="en-US" sz="2400" spc="-1" strike="noStrike">
                <a:solidFill>
                  <a:schemeClr val="dk1"/>
                </a:solidFill>
                <a:latin typeface="Rockwell"/>
              </a:rPr>
              <a:t>What one programmer can do in one month, two programmers can do in two months.”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Rockwell"/>
              </a:rPr>
              <a:t>– </a:t>
            </a:r>
            <a:r>
              <a:rPr b="0" i="1" lang="en-US" sz="2400" spc="-1" strike="noStrike">
                <a:solidFill>
                  <a:schemeClr val="dk1"/>
                </a:solidFill>
                <a:latin typeface="Rockwell"/>
              </a:rPr>
              <a:t>Fred Brooks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Graphic 3" descr=""/>
          <p:cNvPicPr/>
          <p:nvPr/>
        </p:nvPicPr>
        <p:blipFill>
          <a:blip r:embed="rId1"/>
          <a:stretch/>
        </p:blipFill>
        <p:spPr>
          <a:xfrm>
            <a:off x="5800320" y="4604760"/>
            <a:ext cx="1792800" cy="1792800"/>
          </a:xfrm>
          <a:prstGeom prst="rect">
            <a:avLst/>
          </a:prstGeom>
          <a:ln w="0">
            <a:noFill/>
          </a:ln>
        </p:spPr>
      </p:pic>
      <p:pic>
        <p:nvPicPr>
          <p:cNvPr id="122" name="Graphic 7" descr=""/>
          <p:cNvPicPr/>
          <p:nvPr/>
        </p:nvPicPr>
        <p:blipFill>
          <a:blip r:embed="rId2"/>
          <a:stretch/>
        </p:blipFill>
        <p:spPr>
          <a:xfrm flipH="1">
            <a:off x="4615560" y="3905640"/>
            <a:ext cx="1569960" cy="156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3680" y="4600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Version Control: Why?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13680" y="1723320"/>
            <a:ext cx="10353240" cy="41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441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dk1"/>
                </a:solidFill>
                <a:uFillTx/>
                <a:latin typeface="Rockwell"/>
              </a:rPr>
              <a:t>Programmers are…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Awesome, and…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Brilliant, but…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Human, and…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Must work together.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ff00"/>
                </a:solidFill>
                <a:uFillTx/>
                <a:latin typeface="Rockwell"/>
              </a:rPr>
              <a:t>We must plan to fail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.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Version control 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(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revision control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,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source control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) protects us from our own stupidity and faulty nature by storing changes!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pic>
        <p:nvPicPr>
          <p:cNvPr id="125" name="Graphic 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010400" y="1960560"/>
            <a:ext cx="6510960" cy="262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Version Control Basics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312560" y="1848960"/>
            <a:ext cx="2853720" cy="198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52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dk1"/>
                </a:solidFill>
                <a:uFillTx/>
                <a:latin typeface="Rockwell"/>
              </a:rPr>
              <a:t>Version control…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Is based on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commits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Can have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branches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Supports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merging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Usually supports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tags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pic>
        <p:nvPicPr>
          <p:cNvPr id="128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264200" y="3521520"/>
            <a:ext cx="6510960" cy="2628360"/>
          </a:xfrm>
          <a:prstGeom prst="rect">
            <a:avLst/>
          </a:prstGeom>
          <a:ln w="0">
            <a:noFill/>
          </a:ln>
        </p:spPr>
      </p:pic>
      <p:sp>
        <p:nvSpPr>
          <p:cNvPr id="129" name="TextBox 4"/>
          <p:cNvSpPr/>
          <p:nvPr/>
        </p:nvSpPr>
        <p:spPr>
          <a:xfrm>
            <a:off x="1819440" y="4284360"/>
            <a:ext cx="2013840" cy="333360"/>
          </a:xfrm>
          <a:prstGeom prst="rect">
            <a:avLst/>
          </a:prstGeom>
          <a:solidFill>
            <a:srgbClr val="0000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Stable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1819440" y="4780440"/>
            <a:ext cx="861840" cy="3333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</a:rPr>
              <a:t>Bugfix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1819440" y="5285520"/>
            <a:ext cx="2013840" cy="333360"/>
          </a:xfrm>
          <a:prstGeom prst="rect">
            <a:avLst/>
          </a:prstGeom>
          <a:solidFill>
            <a:srgbClr val="c8ace2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</a:rPr>
              <a:t>Development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2798280" y="4780440"/>
            <a:ext cx="1035000" cy="333360"/>
          </a:xfrm>
          <a:prstGeom prst="rect">
            <a:avLst/>
          </a:prstGeom>
          <a:solidFill>
            <a:srgbClr val="28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</a:rPr>
              <a:t>Backport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1791360" y="5781600"/>
            <a:ext cx="2041920" cy="333360"/>
          </a:xfrm>
          <a:prstGeom prst="rect">
            <a:avLst/>
          </a:prstGeom>
          <a:solidFill>
            <a:srgbClr val="00ffc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</a:rPr>
              <a:t>Experimental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: Rounded Corners 12"/>
          <p:cNvSpPr/>
          <p:nvPr/>
        </p:nvSpPr>
        <p:spPr>
          <a:xfrm>
            <a:off x="9856080" y="5308200"/>
            <a:ext cx="288000" cy="292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</a:endParaRPr>
          </a:p>
        </p:txBody>
      </p:sp>
      <p:sp>
        <p:nvSpPr>
          <p:cNvPr id="135" name="Rectangle: Rounded Corners 13"/>
          <p:cNvSpPr/>
          <p:nvPr/>
        </p:nvSpPr>
        <p:spPr>
          <a:xfrm>
            <a:off x="9856080" y="4316040"/>
            <a:ext cx="288000" cy="292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</a:endParaRPr>
          </a:p>
        </p:txBody>
      </p:sp>
      <p:sp>
        <p:nvSpPr>
          <p:cNvPr id="136" name="Rectangle: Rounded Corners 14"/>
          <p:cNvSpPr/>
          <p:nvPr/>
        </p:nvSpPr>
        <p:spPr>
          <a:xfrm>
            <a:off x="7520040" y="5313600"/>
            <a:ext cx="288000" cy="292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</a:endParaRPr>
          </a:p>
        </p:txBody>
      </p:sp>
      <p:sp>
        <p:nvSpPr>
          <p:cNvPr id="137" name="TextBox 15"/>
          <p:cNvSpPr/>
          <p:nvPr/>
        </p:nvSpPr>
        <p:spPr>
          <a:xfrm rot="16200000">
            <a:off x="546840" y="5034600"/>
            <a:ext cx="1833840" cy="333360"/>
          </a:xfrm>
          <a:prstGeom prst="rect">
            <a:avLst/>
          </a:prstGeom>
          <a:solidFill>
            <a:schemeClr val="tx2">
              <a:lumMod val="25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Branches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Straight Arrow Connector 16"/>
          <p:cNvCxnSpPr/>
          <p:nvPr/>
        </p:nvCxnSpPr>
        <p:spPr>
          <a:xfrm flipH="1" flipV="1">
            <a:off x="7808040" y="5600520"/>
            <a:ext cx="870840" cy="18756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39" name="Straight Arrow Connector 20"/>
          <p:cNvCxnSpPr>
            <a:stCxn id="140" idx="0"/>
          </p:cNvCxnSpPr>
          <p:nvPr/>
        </p:nvCxnSpPr>
        <p:spPr>
          <a:xfrm flipV="1">
            <a:off x="9167040" y="4608360"/>
            <a:ext cx="833400" cy="117360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1" name="Straight Arrow Connector 23"/>
          <p:cNvCxnSpPr/>
          <p:nvPr/>
        </p:nvCxnSpPr>
        <p:spPr>
          <a:xfrm flipV="1">
            <a:off x="9511560" y="5567400"/>
            <a:ext cx="344880" cy="27648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140" name="TextBox 11"/>
          <p:cNvSpPr/>
          <p:nvPr/>
        </p:nvSpPr>
        <p:spPr>
          <a:xfrm>
            <a:off x="8250120" y="5781600"/>
            <a:ext cx="1833840" cy="333360"/>
          </a:xfrm>
          <a:prstGeom prst="rect">
            <a:avLst/>
          </a:prstGeom>
          <a:solidFill>
            <a:schemeClr val="tx2">
              <a:lumMod val="25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Merge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2" name="Straight Arrow Connector 30"/>
          <p:cNvCxnSpPr/>
          <p:nvPr/>
        </p:nvCxnSpPr>
        <p:spPr>
          <a:xfrm flipH="1">
            <a:off x="4650840" y="2899440"/>
            <a:ext cx="1855800" cy="66744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3" name="Straight Arrow Connector 34"/>
          <p:cNvCxnSpPr>
            <a:stCxn id="144" idx="2"/>
          </p:cNvCxnSpPr>
          <p:nvPr/>
        </p:nvCxnSpPr>
        <p:spPr>
          <a:xfrm>
            <a:off x="6644880" y="3183120"/>
            <a:ext cx="360" cy="39420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5" name="Straight Arrow Connector 38"/>
          <p:cNvCxnSpPr/>
          <p:nvPr/>
        </p:nvCxnSpPr>
        <p:spPr>
          <a:xfrm>
            <a:off x="7244640" y="3138840"/>
            <a:ext cx="2929680" cy="46260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144" name="TextBox 9"/>
          <p:cNvSpPr/>
          <p:nvPr/>
        </p:nvSpPr>
        <p:spPr>
          <a:xfrm>
            <a:off x="5727960" y="2849760"/>
            <a:ext cx="1833840" cy="333360"/>
          </a:xfrm>
          <a:prstGeom prst="rect">
            <a:avLst/>
          </a:prstGeom>
          <a:solidFill>
            <a:schemeClr val="tx2">
              <a:lumMod val="25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Tag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6" name="Straight Arrow Connector 54"/>
          <p:cNvCxnSpPr/>
          <p:nvPr/>
        </p:nvCxnSpPr>
        <p:spPr>
          <a:xfrm flipH="1">
            <a:off x="6779160" y="3711240"/>
            <a:ext cx="1292400" cy="67428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7" name="Straight Arrow Connector 59"/>
          <p:cNvCxnSpPr>
            <a:stCxn id="148" idx="2"/>
          </p:cNvCxnSpPr>
          <p:nvPr/>
        </p:nvCxnSpPr>
        <p:spPr>
          <a:xfrm flipH="1">
            <a:off x="8053560" y="3910680"/>
            <a:ext cx="303480" cy="139248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49" name="Straight Arrow Connector 64"/>
          <p:cNvCxnSpPr/>
          <p:nvPr/>
        </p:nvCxnSpPr>
        <p:spPr>
          <a:xfrm>
            <a:off x="8796240" y="3832560"/>
            <a:ext cx="558360" cy="983520"/>
          </a:xfrm>
          <a:prstGeom prst="straightConnector1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148" name="TextBox 10"/>
          <p:cNvSpPr/>
          <p:nvPr/>
        </p:nvSpPr>
        <p:spPr>
          <a:xfrm>
            <a:off x="7439760" y="3577320"/>
            <a:ext cx="1833840" cy="333360"/>
          </a:xfrm>
          <a:prstGeom prst="rect">
            <a:avLst/>
          </a:prstGeom>
          <a:solidFill>
            <a:schemeClr val="tx2">
              <a:lumMod val="25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Commit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Git: Distributed Version Control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913680" y="2095920"/>
            <a:ext cx="5310720" cy="25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44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Git is a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distributed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version control system.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Everyone has a copy of the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repository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May or may not have central repository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Commits are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local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until they are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pushed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“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Commit early and often” (low cost)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grpSp>
        <p:nvGrpSpPr>
          <p:cNvPr id="152" name="Group 14"/>
          <p:cNvGrpSpPr/>
          <p:nvPr/>
        </p:nvGrpSpPr>
        <p:grpSpPr>
          <a:xfrm>
            <a:off x="6464880" y="4273200"/>
            <a:ext cx="1521720" cy="1521720"/>
            <a:chOff x="6464880" y="4273200"/>
            <a:chExt cx="1521720" cy="1521720"/>
          </a:xfrm>
        </p:grpSpPr>
        <p:pic>
          <p:nvPicPr>
            <p:cNvPr id="153" name="Graphic 5" descr="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  <a:grayscl/>
            </a:blip>
            <a:stretch/>
          </p:blipFill>
          <p:spPr>
            <a:xfrm>
              <a:off x="6464880" y="4273200"/>
              <a:ext cx="1521720" cy="1521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4" name="Graphic 6" descr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6616080" y="4862880"/>
              <a:ext cx="820080" cy="330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5" name="Group 12"/>
          <p:cNvGrpSpPr/>
          <p:nvPr/>
        </p:nvGrpSpPr>
        <p:grpSpPr>
          <a:xfrm>
            <a:off x="8023320" y="2095920"/>
            <a:ext cx="1653120" cy="1377720"/>
            <a:chOff x="8023320" y="2095920"/>
            <a:chExt cx="1653120" cy="1377720"/>
          </a:xfrm>
        </p:grpSpPr>
        <p:pic>
          <p:nvPicPr>
            <p:cNvPr id="156" name="Graphic 8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8023320" y="2095920"/>
              <a:ext cx="1653120" cy="1377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7" name="Graphic 11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8187120" y="2507400"/>
              <a:ext cx="1330560" cy="537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8" name="Group 15"/>
          <p:cNvGrpSpPr/>
          <p:nvPr/>
        </p:nvGrpSpPr>
        <p:grpSpPr>
          <a:xfrm>
            <a:off x="9640800" y="4251240"/>
            <a:ext cx="1521720" cy="1521720"/>
            <a:chOff x="9640800" y="4251240"/>
            <a:chExt cx="1521720" cy="1521720"/>
          </a:xfrm>
        </p:grpSpPr>
        <p:pic>
          <p:nvPicPr>
            <p:cNvPr id="159" name="Graphic 4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640800" y="4251240"/>
              <a:ext cx="1521720" cy="1521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0" name="Graphic 13" descr="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9789840" y="4846680"/>
              <a:ext cx="820080" cy="33084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61" name="Straight Arrow Connector 18"/>
          <p:cNvCxnSpPr/>
          <p:nvPr/>
        </p:nvCxnSpPr>
        <p:spPr>
          <a:xfrm flipV="1">
            <a:off x="7472160" y="3324240"/>
            <a:ext cx="1030320" cy="1141200"/>
          </a:xfrm>
          <a:prstGeom prst="straightConnector1">
            <a:avLst/>
          </a:prstGeom>
          <a:ln w="76200">
            <a:solidFill>
              <a:srgbClr val="abdafc">
                <a:lumMod val="75000"/>
              </a:srgbClr>
            </a:solidFill>
            <a:round/>
            <a:headEnd len="med" type="stealth" w="med"/>
            <a:tailEnd len="med" type="stealth" w="med"/>
          </a:ln>
        </p:spPr>
      </p:cxnSp>
      <p:cxnSp>
        <p:nvCxnSpPr>
          <p:cNvPr id="162" name="Straight Arrow Connector 21"/>
          <p:cNvCxnSpPr/>
          <p:nvPr/>
        </p:nvCxnSpPr>
        <p:spPr>
          <a:xfrm flipH="1" flipV="1">
            <a:off x="9197640" y="3324240"/>
            <a:ext cx="940680" cy="1151640"/>
          </a:xfrm>
          <a:prstGeom prst="straightConnector1">
            <a:avLst/>
          </a:prstGeom>
          <a:ln w="76200">
            <a:solidFill>
              <a:srgbClr val="abdafc">
                <a:lumMod val="75000"/>
              </a:srgbClr>
            </a:solidFill>
            <a:round/>
            <a:headEnd len="med" type="stealth" w="med"/>
            <a:tailEnd len="med" type="stealth" w="med"/>
          </a:ln>
        </p:spPr>
      </p:cxnSp>
      <p:cxnSp>
        <p:nvCxnSpPr>
          <p:cNvPr id="163" name="Straight Arrow Connector 23"/>
          <p:cNvCxnSpPr/>
          <p:nvPr/>
        </p:nvCxnSpPr>
        <p:spPr>
          <a:xfrm>
            <a:off x="7986960" y="5283000"/>
            <a:ext cx="1653840" cy="360"/>
          </a:xfrm>
          <a:prstGeom prst="straightConnector1">
            <a:avLst/>
          </a:prstGeom>
          <a:ln w="76200">
            <a:solidFill>
              <a:srgbClr val="abdafc">
                <a:lumMod val="75000"/>
              </a:srgbClr>
            </a:solidFill>
            <a:round/>
            <a:headEnd len="med" type="stealth" w="med"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" dur="indefinite" restart="never" nodeType="tmRoot">
          <p:childTnLst>
            <p:seq>
              <p:cTn id="119" dur="indefinite" nodeType="mainSeq">
                <p:childTnLst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Distributed VCS: Clone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13680" y="1756080"/>
            <a:ext cx="1035324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A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clone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operation makes a copy of a repository locally.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pic>
        <p:nvPicPr>
          <p:cNvPr id="166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  <a:grayscl/>
          </a:blip>
          <a:stretch/>
        </p:blipFill>
        <p:spPr>
          <a:xfrm>
            <a:off x="7221960" y="2779920"/>
            <a:ext cx="1521720" cy="1521720"/>
          </a:xfrm>
          <a:prstGeom prst="rect">
            <a:avLst/>
          </a:prstGeom>
          <a:ln w="0">
            <a:noFill/>
          </a:ln>
        </p:spPr>
      </p:pic>
      <p:pic>
        <p:nvPicPr>
          <p:cNvPr id="167" name="Graphic 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73160" y="3369600"/>
            <a:ext cx="820080" cy="330840"/>
          </a:xfrm>
          <a:prstGeom prst="rect">
            <a:avLst/>
          </a:prstGeom>
          <a:ln w="0">
            <a:noFill/>
          </a:ln>
        </p:spPr>
      </p:pic>
      <p:grpSp>
        <p:nvGrpSpPr>
          <p:cNvPr id="168" name="Group 6"/>
          <p:cNvGrpSpPr/>
          <p:nvPr/>
        </p:nvGrpSpPr>
        <p:grpSpPr>
          <a:xfrm>
            <a:off x="3468240" y="2965680"/>
            <a:ext cx="1653120" cy="1377720"/>
            <a:chOff x="3468240" y="2965680"/>
            <a:chExt cx="1653120" cy="1377720"/>
          </a:xfrm>
        </p:grpSpPr>
        <p:pic>
          <p:nvPicPr>
            <p:cNvPr id="169" name="Graphic 7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3468240" y="2965680"/>
              <a:ext cx="1653120" cy="1377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0" name="Graphic 8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3632040" y="3377160"/>
              <a:ext cx="1330560" cy="53712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71" name="Straight Arrow Connector 9"/>
          <p:cNvCxnSpPr/>
          <p:nvPr/>
        </p:nvCxnSpPr>
        <p:spPr>
          <a:xfrm>
            <a:off x="5419440" y="3639240"/>
            <a:ext cx="1588680" cy="360"/>
          </a:xfrm>
          <a:prstGeom prst="straightConnector1">
            <a:avLst/>
          </a:prstGeom>
          <a:ln w="76200">
            <a:solidFill>
              <a:srgbClr val="abdafc">
                <a:lumMod val="75000"/>
              </a:srgbClr>
            </a:solidFill>
            <a:round/>
            <a:tailEnd len="med" type="stealth" w="med"/>
          </a:ln>
        </p:spPr>
      </p:cxnSp>
      <p:sp>
        <p:nvSpPr>
          <p:cNvPr id="172" name="Content Placeholder 2"/>
          <p:cNvSpPr/>
          <p:nvPr/>
        </p:nvSpPr>
        <p:spPr>
          <a:xfrm>
            <a:off x="913680" y="5197320"/>
            <a:ext cx="1035324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Note: a clone does not capture any future commits!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0" dur="indefinite" restart="never" nodeType="tmRoot">
          <p:childTnLst>
            <p:seq>
              <p:cTn id="141" dur="indefinite" nodeType="mainSeq">
                <p:childTnLst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Distributed VCS: Commit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913680" y="2095920"/>
            <a:ext cx="10353240" cy="50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Performing a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commit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creates a changeset from one version to another.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pic>
        <p:nvPicPr>
          <p:cNvPr id="175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089800" y="2891520"/>
            <a:ext cx="6510960" cy="2628360"/>
          </a:xfrm>
          <a:prstGeom prst="rect">
            <a:avLst/>
          </a:prstGeom>
          <a:ln w="0">
            <a:noFill/>
          </a:ln>
        </p:spPr>
      </p:pic>
      <p:cxnSp>
        <p:nvCxnSpPr>
          <p:cNvPr id="176" name="Straight Arrow Connector 5"/>
          <p:cNvCxnSpPr/>
          <p:nvPr/>
        </p:nvCxnSpPr>
        <p:spPr>
          <a:xfrm>
            <a:off x="8357760" y="4823640"/>
            <a:ext cx="1143360" cy="360"/>
          </a:xfrm>
          <a:prstGeom prst="straightConnector1">
            <a:avLst/>
          </a:prstGeom>
          <a:ln w="31750">
            <a:solidFill>
              <a:srgbClr val="ffffff"/>
            </a:solidFill>
            <a:round/>
          </a:ln>
        </p:spPr>
      </p:cxnSp>
      <p:sp>
        <p:nvSpPr>
          <p:cNvPr id="177" name="Oval 7"/>
          <p:cNvSpPr/>
          <p:nvPr/>
        </p:nvSpPr>
        <p:spPr>
          <a:xfrm>
            <a:off x="9500760" y="4683600"/>
            <a:ext cx="264960" cy="26496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</a:endParaRPr>
          </a:p>
        </p:txBody>
      </p:sp>
      <p:sp>
        <p:nvSpPr>
          <p:cNvPr id="178" name="TextBox 13"/>
          <p:cNvSpPr/>
          <p:nvPr/>
        </p:nvSpPr>
        <p:spPr>
          <a:xfrm>
            <a:off x="8357760" y="4469040"/>
            <a:ext cx="1142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Rockwell"/>
              </a:rPr>
              <a:t>changes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9" name="Straight Arrow Connector 15"/>
          <p:cNvCxnSpPr>
            <a:stCxn id="180" idx="2"/>
            <a:endCxn id="177" idx="0"/>
          </p:cNvCxnSpPr>
          <p:nvPr/>
        </p:nvCxnSpPr>
        <p:spPr>
          <a:xfrm>
            <a:off x="9633240" y="3507840"/>
            <a:ext cx="360" cy="117612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med" type="triangle" w="med"/>
          </a:ln>
        </p:spPr>
      </p:cxnSp>
      <p:sp>
        <p:nvSpPr>
          <p:cNvPr id="180" name="TextBox 18"/>
          <p:cNvSpPr/>
          <p:nvPr/>
        </p:nvSpPr>
        <p:spPr>
          <a:xfrm>
            <a:off x="9140400" y="2930760"/>
            <a:ext cx="985680" cy="577080"/>
          </a:xfrm>
          <a:prstGeom prst="rect">
            <a:avLst/>
          </a:prstGeom>
          <a:solidFill>
            <a:schemeClr val="tx2">
              <a:lumMod val="25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Rockwell"/>
              </a:rPr>
              <a:t>New Commit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7" dur="indefinite" restart="never" nodeType="tmRoot">
          <p:childTnLst>
            <p:seq>
              <p:cTn id="158" dur="indefinite" nodeType="mainSeq">
                <p:childTnLst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Distributed VCS: Push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913680" y="1756080"/>
            <a:ext cx="1035324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A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push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operation pushes any changes up to a remote repository.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pic>
        <p:nvPicPr>
          <p:cNvPr id="183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  <a:grayscl/>
          </a:blip>
          <a:stretch/>
        </p:blipFill>
        <p:spPr>
          <a:xfrm>
            <a:off x="2474280" y="2360520"/>
            <a:ext cx="2557440" cy="2557440"/>
          </a:xfrm>
          <a:prstGeom prst="rect">
            <a:avLst/>
          </a:prstGeom>
          <a:ln w="0">
            <a:noFill/>
          </a:ln>
        </p:spPr>
      </p:pic>
      <p:pic>
        <p:nvPicPr>
          <p:cNvPr id="184" name="Graphic 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71280" y="2682720"/>
            <a:ext cx="2628720" cy="2190240"/>
          </a:xfrm>
          <a:prstGeom prst="rect">
            <a:avLst/>
          </a:prstGeom>
          <a:ln w="0">
            <a:noFill/>
          </a:ln>
        </p:spPr>
      </p:pic>
      <p:pic>
        <p:nvPicPr>
          <p:cNvPr id="185" name="Graphic 8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531920" y="3413880"/>
            <a:ext cx="2115360" cy="853920"/>
          </a:xfrm>
          <a:prstGeom prst="rect">
            <a:avLst/>
          </a:prstGeom>
          <a:ln w="0">
            <a:noFill/>
          </a:ln>
        </p:spPr>
      </p:pic>
      <p:cxnSp>
        <p:nvCxnSpPr>
          <p:cNvPr id="186" name="Straight Arrow Connector 9"/>
          <p:cNvCxnSpPr/>
          <p:nvPr/>
        </p:nvCxnSpPr>
        <p:spPr>
          <a:xfrm>
            <a:off x="5419440" y="3639240"/>
            <a:ext cx="1588680" cy="360"/>
          </a:xfrm>
          <a:prstGeom prst="straightConnector1">
            <a:avLst/>
          </a:prstGeom>
          <a:ln w="76200">
            <a:solidFill>
              <a:srgbClr val="abdafc">
                <a:lumMod val="75000"/>
              </a:srgbClr>
            </a:solidFill>
            <a:round/>
            <a:tailEnd len="med" type="stealth" w="med"/>
          </a:ln>
        </p:spPr>
      </p:cxnSp>
      <p:grpSp>
        <p:nvGrpSpPr>
          <p:cNvPr id="187" name="Group 27"/>
          <p:cNvGrpSpPr/>
          <p:nvPr/>
        </p:nvGrpSpPr>
        <p:grpSpPr>
          <a:xfrm>
            <a:off x="7507440" y="3415320"/>
            <a:ext cx="2208240" cy="870840"/>
            <a:chOff x="7507440" y="3415320"/>
            <a:chExt cx="2208240" cy="870840"/>
          </a:xfrm>
        </p:grpSpPr>
        <p:cxnSp>
          <p:nvCxnSpPr>
            <p:cNvPr id="188" name="Straight Arrow Connector 17"/>
            <p:cNvCxnSpPr/>
            <p:nvPr/>
          </p:nvCxnSpPr>
          <p:spPr>
            <a:xfrm>
              <a:off x="9542880" y="4050360"/>
              <a:ext cx="122400" cy="360"/>
            </a:xfrm>
            <a:prstGeom prst="straightConnector1">
              <a:avLst/>
            </a:prstGeom>
            <a:ln w="317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</p:cxnSp>
        <p:sp>
          <p:nvSpPr>
            <p:cNvPr id="189" name="Oval 18"/>
            <p:cNvSpPr/>
            <p:nvPr/>
          </p:nvSpPr>
          <p:spPr>
            <a:xfrm>
              <a:off x="9631440" y="4008240"/>
              <a:ext cx="84240" cy="8424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4760" bIns="1476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Rockwell"/>
              </a:endParaRPr>
            </a:p>
          </p:txBody>
        </p:sp>
        <p:pic>
          <p:nvPicPr>
            <p:cNvPr id="190" name="Graphic 19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7507440" y="3415320"/>
              <a:ext cx="2157120" cy="870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1" name="Group 20"/>
          <p:cNvGrpSpPr/>
          <p:nvPr/>
        </p:nvGrpSpPr>
        <p:grpSpPr>
          <a:xfrm>
            <a:off x="2722680" y="3205440"/>
            <a:ext cx="1358640" cy="515880"/>
            <a:chOff x="2722680" y="3205440"/>
            <a:chExt cx="1358640" cy="515880"/>
          </a:xfrm>
        </p:grpSpPr>
        <p:pic>
          <p:nvPicPr>
            <p:cNvPr id="192" name="Graphic 21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2722680" y="3205440"/>
              <a:ext cx="1278360" cy="51588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193" name="Straight Arrow Connector 22"/>
            <p:cNvCxnSpPr/>
            <p:nvPr/>
          </p:nvCxnSpPr>
          <p:spPr>
            <a:xfrm>
              <a:off x="3953520" y="3584520"/>
              <a:ext cx="90000" cy="360"/>
            </a:xfrm>
            <a:prstGeom prst="straightConnector1">
              <a:avLst/>
            </a:prstGeom>
            <a:ln w="31750">
              <a:solidFill>
                <a:srgbClr val="ffffff"/>
              </a:solidFill>
              <a:round/>
            </a:ln>
          </p:spPr>
        </p:cxnSp>
        <p:sp>
          <p:nvSpPr>
            <p:cNvPr id="194" name="Oval 23"/>
            <p:cNvSpPr/>
            <p:nvPr/>
          </p:nvSpPr>
          <p:spPr>
            <a:xfrm>
              <a:off x="4029480" y="3558960"/>
              <a:ext cx="51840" cy="5184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Rockwel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0" dur="indefinite" restart="never" nodeType="tmRoot">
          <p:childTnLst>
            <p:seq>
              <p:cTn id="181" dur="indefinite" nodeType="mainSeq">
                <p:childTnLst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9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Distributed VCS: Pull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913680" y="1756080"/>
            <a:ext cx="1035324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A </a:t>
            </a:r>
            <a:r>
              <a:rPr b="1" lang="en-US" sz="2000" spc="-1" strike="noStrike">
                <a:solidFill>
                  <a:srgbClr val="ffc000"/>
                </a:solidFill>
                <a:latin typeface="Rockwell"/>
              </a:rPr>
              <a:t>pull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operation pulls down any changes made to the remote repository.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  <p:pic>
        <p:nvPicPr>
          <p:cNvPr id="197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  <a:grayscl/>
          </a:blip>
          <a:stretch/>
        </p:blipFill>
        <p:spPr>
          <a:xfrm>
            <a:off x="7155000" y="2274840"/>
            <a:ext cx="2557440" cy="2557440"/>
          </a:xfrm>
          <a:prstGeom prst="rect">
            <a:avLst/>
          </a:prstGeom>
          <a:ln w="0">
            <a:noFill/>
          </a:ln>
        </p:spPr>
      </p:pic>
      <p:pic>
        <p:nvPicPr>
          <p:cNvPr id="198" name="Graphic 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402280" y="2544120"/>
            <a:ext cx="2628720" cy="2190240"/>
          </a:xfrm>
          <a:prstGeom prst="rect">
            <a:avLst/>
          </a:prstGeom>
          <a:ln w="0">
            <a:noFill/>
          </a:ln>
        </p:spPr>
      </p:pic>
      <p:cxnSp>
        <p:nvCxnSpPr>
          <p:cNvPr id="199" name="Straight Arrow Connector 9"/>
          <p:cNvCxnSpPr/>
          <p:nvPr/>
        </p:nvCxnSpPr>
        <p:spPr>
          <a:xfrm>
            <a:off x="5419440" y="3639240"/>
            <a:ext cx="1588680" cy="360"/>
          </a:xfrm>
          <a:prstGeom prst="straightConnector1">
            <a:avLst/>
          </a:prstGeom>
          <a:ln w="76200">
            <a:solidFill>
              <a:srgbClr val="abdafc">
                <a:lumMod val="75000"/>
              </a:srgbClr>
            </a:solidFill>
            <a:round/>
            <a:tailEnd len="med" type="stealth" w="med"/>
          </a:ln>
        </p:spPr>
      </p:cxnSp>
      <p:grpSp>
        <p:nvGrpSpPr>
          <p:cNvPr id="200" name="Group 27"/>
          <p:cNvGrpSpPr/>
          <p:nvPr/>
        </p:nvGrpSpPr>
        <p:grpSpPr>
          <a:xfrm>
            <a:off x="2612520" y="3276000"/>
            <a:ext cx="2208240" cy="870840"/>
            <a:chOff x="2612520" y="3276000"/>
            <a:chExt cx="2208240" cy="870840"/>
          </a:xfrm>
        </p:grpSpPr>
        <p:cxnSp>
          <p:nvCxnSpPr>
            <p:cNvPr id="201" name="Straight Arrow Connector 17"/>
            <p:cNvCxnSpPr/>
            <p:nvPr/>
          </p:nvCxnSpPr>
          <p:spPr>
            <a:xfrm>
              <a:off x="4647960" y="3911040"/>
              <a:ext cx="122400" cy="360"/>
            </a:xfrm>
            <a:prstGeom prst="straightConnector1">
              <a:avLst/>
            </a:prstGeom>
            <a:ln w="317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</p:cxnSp>
        <p:sp>
          <p:nvSpPr>
            <p:cNvPr id="202" name="Oval 18"/>
            <p:cNvSpPr/>
            <p:nvPr/>
          </p:nvSpPr>
          <p:spPr>
            <a:xfrm>
              <a:off x="4736520" y="3868920"/>
              <a:ext cx="84240" cy="8424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14760" bIns="1476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Rockwell"/>
              </a:endParaRPr>
            </a:p>
          </p:txBody>
        </p:sp>
        <p:pic>
          <p:nvPicPr>
            <p:cNvPr id="203" name="Graphic 19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2612520" y="3276000"/>
              <a:ext cx="2157120" cy="870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roup 20"/>
          <p:cNvGrpSpPr/>
          <p:nvPr/>
        </p:nvGrpSpPr>
        <p:grpSpPr>
          <a:xfrm>
            <a:off x="7415280" y="3298680"/>
            <a:ext cx="1359000" cy="515880"/>
            <a:chOff x="7415280" y="3298680"/>
            <a:chExt cx="1359000" cy="515880"/>
          </a:xfrm>
        </p:grpSpPr>
        <p:pic>
          <p:nvPicPr>
            <p:cNvPr id="205" name="Graphic 21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7415280" y="3298680"/>
              <a:ext cx="1278360" cy="51588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206" name="Straight Arrow Connector 22"/>
            <p:cNvCxnSpPr/>
            <p:nvPr/>
          </p:nvCxnSpPr>
          <p:spPr>
            <a:xfrm>
              <a:off x="8646120" y="3677760"/>
              <a:ext cx="90360" cy="360"/>
            </a:xfrm>
            <a:prstGeom prst="straightConnector1">
              <a:avLst/>
            </a:prstGeom>
            <a:ln w="31750">
              <a:solidFill>
                <a:srgbClr val="ffffff"/>
              </a:solidFill>
              <a:round/>
            </a:ln>
          </p:spPr>
        </p:cxnSp>
        <p:sp>
          <p:nvSpPr>
            <p:cNvPr id="207" name="Oval 23"/>
            <p:cNvSpPr/>
            <p:nvPr/>
          </p:nvSpPr>
          <p:spPr>
            <a:xfrm>
              <a:off x="8722440" y="3651840"/>
              <a:ext cx="51840" cy="5184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8280" bIns="-828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Rockwell"/>
              </a:endParaRPr>
            </a:p>
          </p:txBody>
        </p:sp>
      </p:grpSp>
      <p:pic>
        <p:nvPicPr>
          <p:cNvPr id="208" name="Graphic 15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481880" y="3297600"/>
            <a:ext cx="1269000" cy="51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0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400" spc="-1" strike="noStrike" cap="all">
                <a:solidFill>
                  <a:schemeClr val="dk1"/>
                </a:solidFill>
                <a:latin typeface="Bookman Old Style"/>
              </a:rPr>
              <a:t>And now for a demonstration…</a:t>
            </a:r>
            <a:endParaRPr b="0" lang="en-US" sz="3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913680" y="1935360"/>
            <a:ext cx="10353240" cy="411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There are many tools that can be used for Git repositories.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I usually use the </a:t>
            </a:r>
            <a:r>
              <a:rPr b="0" lang="en-US" sz="2000" spc="-1" strike="noStrike" u="sng">
                <a:solidFill>
                  <a:schemeClr val="dk1"/>
                </a:solidFill>
                <a:uFillTx/>
                <a:latin typeface="Rockwell"/>
                <a:hlinkClick r:id="rId1"/>
              </a:rPr>
              <a:t>SourceTree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GUI app on Windows and MacOS, but YMMV.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Recommendations for command line (you’ll need one of these):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Windows 11 – </a:t>
            </a:r>
            <a:r>
              <a:rPr b="0" lang="en-US" sz="2000" spc="-1" strike="noStrike" u="sng">
                <a:solidFill>
                  <a:schemeClr val="dk1"/>
                </a:solidFill>
                <a:uFillTx/>
                <a:latin typeface="Rockwell"/>
                <a:hlinkClick r:id="rId2"/>
              </a:rPr>
              <a:t>Windows Subsystem for Linux</a:t>
            </a: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 (i.e., Ubuntu on Windows)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MacOS – Type ‘git’ from a terminal.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Rockwell"/>
              </a:rPr>
              <a:t>Linux – Type ‘git’ from a terminal. Probably. (Insert CLI black magic here.)</a:t>
            </a:r>
            <a:endParaRPr b="0" lang="en-US" sz="2000" spc="-1" strike="noStrike">
              <a:solidFill>
                <a:schemeClr val="dk1"/>
              </a:solidFill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4986</TotalTime>
  <Application>LibreOffice/24.2.7.2$Linux_X86_64 LibreOffice_project/420$Build-2</Application>
  <AppVersion>15.0000</AppVersion>
  <Words>428</Words>
  <Paragraphs>96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2017-08-16T14:30:14Z</dcterms:created>
  <dc:creator>Blanchard, Jeremiah J</dc:creator>
  <dc:description/>
  <dc:language>en-US</dc:language>
  <cp:lastModifiedBy/>
  <dcterms:modified xsi:type="dcterms:W3CDTF">2025-09-25T15:28:53Z</dcterms:modified>
  <cp:revision>205</cp:revision>
  <dc:subject/>
  <dc:title>PROGRAMMING Fundamentals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